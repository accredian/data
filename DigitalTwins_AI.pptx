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ccredian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5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hyperlink" Target="https://accredian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11" Type="http://schemas.openxmlformats.org/officeDocument/2006/relationships/hyperlink" Target="https://accredian.com/" TargetMode="External"/><Relationship Id="rId10" Type="http://schemas.openxmlformats.org/officeDocument/2006/relationships/image" Target="../media/image16.png"/><Relationship Id="rId9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33.png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10" Type="http://schemas.openxmlformats.org/officeDocument/2006/relationships/hyperlink" Target="https://accredian.com/" TargetMode="External"/><Relationship Id="rId9" Type="http://schemas.openxmlformats.org/officeDocument/2006/relationships/image" Target="../media/image40.png"/><Relationship Id="rId5" Type="http://schemas.openxmlformats.org/officeDocument/2006/relationships/image" Target="../media/image56.png"/><Relationship Id="rId6" Type="http://schemas.openxmlformats.org/officeDocument/2006/relationships/image" Target="../media/image23.png"/><Relationship Id="rId7" Type="http://schemas.openxmlformats.org/officeDocument/2006/relationships/image" Target="../media/image44.png"/><Relationship Id="rId8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3.png"/><Relationship Id="rId9" Type="http://schemas.openxmlformats.org/officeDocument/2006/relationships/hyperlink" Target="https://accredian.com/" TargetMode="External"/><Relationship Id="rId5" Type="http://schemas.openxmlformats.org/officeDocument/2006/relationships/image" Target="../media/image58.png"/><Relationship Id="rId6" Type="http://schemas.openxmlformats.org/officeDocument/2006/relationships/image" Target="../media/image61.png"/><Relationship Id="rId7" Type="http://schemas.openxmlformats.org/officeDocument/2006/relationships/image" Target="../media/image64.png"/><Relationship Id="rId8" Type="http://schemas.openxmlformats.org/officeDocument/2006/relationships/image" Target="../media/image5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/" TargetMode="External"/><Relationship Id="rId4" Type="http://schemas.openxmlformats.org/officeDocument/2006/relationships/hyperlink" Target="https://accredian.com/" TargetMode="External"/><Relationship Id="rId9" Type="http://schemas.openxmlformats.org/officeDocument/2006/relationships/hyperlink" Target="https://accredian.com/" TargetMode="External"/><Relationship Id="rId5" Type="http://schemas.openxmlformats.org/officeDocument/2006/relationships/image" Target="../media/image62.png"/><Relationship Id="rId6" Type="http://schemas.openxmlformats.org/officeDocument/2006/relationships/image" Target="../media/image15.png"/><Relationship Id="rId7" Type="http://schemas.openxmlformats.org/officeDocument/2006/relationships/image" Target="../media/image64.png"/><Relationship Id="rId8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4864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128016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201168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274320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0" y="347472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420624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029200" y="-1645920"/>
            <a:ext cx="6583680" cy="6583680"/>
          </a:xfrm>
          <a:prstGeom prst="ellipse">
            <a:avLst/>
          </a:prstGeom>
          <a:solidFill>
            <a:srgbClr val="0096B4">
              <a:alpha val="10196"/>
            </a:srgbClr>
          </a:solidFill>
          <a:ln cap="flat" cmpd="sng" w="12700">
            <a:solidFill>
              <a:srgbClr val="00B4D8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943600" y="-822960"/>
            <a:ext cx="4754880" cy="4754880"/>
          </a:xfrm>
          <a:prstGeom prst="ellipse">
            <a:avLst/>
          </a:prstGeom>
          <a:solidFill>
            <a:srgbClr val="00B4D8">
              <a:alpha val="5882"/>
            </a:srgbClr>
          </a:solidFill>
          <a:ln cap="flat" cmpd="sng" w="12700">
            <a:solidFill>
              <a:srgbClr val="00B4D8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858000" y="0"/>
            <a:ext cx="2926080" cy="2926080"/>
          </a:xfrm>
          <a:prstGeom prst="ellipse">
            <a:avLst/>
          </a:prstGeom>
          <a:solidFill>
            <a:srgbClr val="00B4D8">
              <a:alpha val="14117"/>
            </a:srgbClr>
          </a:solidFill>
          <a:ln cap="flat" cmpd="sng" w="12700">
            <a:solidFill>
              <a:srgbClr val="00B4D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00B4D8">
              <a:alpha val="10196"/>
            </a:srgbClr>
          </a:solidFill>
          <a:ln cap="flat" cmpd="sng" w="12700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56032" y="1170432"/>
            <a:ext cx="6858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Digital Twins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56032" y="210312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Simulating the Real World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56032" y="2633472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90E0EF"/>
                </a:solidFill>
                <a:latin typeface="Georgia"/>
                <a:ea typeface="Georgia"/>
                <a:cs typeface="Georgia"/>
                <a:sym typeface="Georgia"/>
              </a:rPr>
              <a:t>to Train AI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56032" y="3200400"/>
            <a:ext cx="2926080" cy="43891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256032" y="3328416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An Executive Briefing for Technology &amp; Strategy Leaders  | 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5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D22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641080" y="91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84048" y="118872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Is a Digital Twin?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84048" y="548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A living virtual replica — continuously updated with real-world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56032" y="1060704"/>
            <a:ext cx="4206240" cy="111556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1170432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960120" y="11155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Core Definition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60120" y="1389888"/>
            <a:ext cx="3337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 digital twin is a dynamic, data-driven virtual model of a physical object, system or process. It mirrors its real-world counterpart in real time using IoT sensors, AI models and simulation engines.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663440" y="1060704"/>
            <a:ext cx="4206240" cy="65836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663440" y="1060704"/>
            <a:ext cx="530352" cy="658368"/>
          </a:xfrm>
          <a:prstGeom prst="rect">
            <a:avLst/>
          </a:prstGeom>
          <a:solidFill>
            <a:srgbClr val="007A9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0016" y="118872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5266944" y="11521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World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66944" y="142646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Sensors · IoT Devices · Actuators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7104" y="1719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4663440" y="1883664"/>
            <a:ext cx="4206240" cy="65836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663440" y="1883664"/>
            <a:ext cx="530352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0016" y="201168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5266944" y="19751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Twin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266944" y="224942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Real-time Sync · Simulation ·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7104" y="2542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4663440" y="2706624"/>
            <a:ext cx="4206240" cy="658368"/>
          </a:xfrm>
          <a:prstGeom prst="rect">
            <a:avLst/>
          </a:prstGeom>
          <a:solidFill>
            <a:srgbClr val="2A1E00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663440" y="2706624"/>
            <a:ext cx="530352" cy="65836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0016" y="283464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5266944" y="279806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&amp; Analytics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266944" y="307238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Prediction · Optimisation · Training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256032" y="3529584"/>
            <a:ext cx="2029968" cy="8412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347472" y="356616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$183B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29184" y="395935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Global market by 2031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432304" y="3529584"/>
            <a:ext cx="2029968" cy="8412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1DB8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2523744" y="356616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87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DB87A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05456" y="395935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Reduction in downtime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608576" y="3529584"/>
            <a:ext cx="2029968" cy="8412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700016" y="356616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3×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681728" y="395935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Faster AI model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784848" y="3529584"/>
            <a:ext cx="2029968" cy="8412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876288" y="356616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48CAE4"/>
                </a:solidFill>
                <a:latin typeface="Georgia"/>
                <a:ea typeface="Georgia"/>
                <a:cs typeface="Georgia"/>
                <a:sym typeface="Georgia"/>
              </a:rPr>
              <a:t>73%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858000" y="395935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Enterprises adopting by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D22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8641080" y="91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84048" y="118872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How Digital Twins Train AI Systems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84048" y="548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Synthetic data, safe simulation and closed-loop learning — at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01168" y="1097280"/>
            <a:ext cx="1682496" cy="2286000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201168" y="1097280"/>
            <a:ext cx="1682496" cy="475488"/>
          </a:xfrm>
          <a:prstGeom prst="rect">
            <a:avLst/>
          </a:prstGeom>
          <a:solidFill>
            <a:srgbClr val="007A9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274320" y="113385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888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292608" y="1591056"/>
            <a:ext cx="1499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Ingestion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292608" y="2103120"/>
            <a:ext cx="14996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IoT streams feed the twin with real-time physical readings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2808" y="21214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1956816" y="1097280"/>
            <a:ext cx="1682496" cy="2286000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956816" y="1097280"/>
            <a:ext cx="1682496" cy="47548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2029968" y="113385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5536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2048256" y="1591056"/>
            <a:ext cx="1499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048256" y="2103120"/>
            <a:ext cx="14996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Physics-based and ML models replicate system behaviour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8456" y="21214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3712464" y="1097280"/>
            <a:ext cx="1682496" cy="2286000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3712464" y="1097280"/>
            <a:ext cx="1682496" cy="475488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785616" y="113385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1184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3803904" y="1591056"/>
            <a:ext cx="1499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Synthetic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Gen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803904" y="2103120"/>
            <a:ext cx="14996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Rare edge cases generated safely — no real-world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4104" y="21214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5468112" y="1097280"/>
            <a:ext cx="1682496" cy="2286000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5468112" y="1097280"/>
            <a:ext cx="1682496" cy="475488"/>
          </a:xfrm>
          <a:prstGeom prst="rect">
            <a:avLst/>
          </a:prstGeom>
          <a:solidFill>
            <a:srgbClr val="7C5CBF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5541264" y="113385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6832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/>
          <p:nvPr/>
        </p:nvSpPr>
        <p:spPr>
          <a:xfrm>
            <a:off x="5559552" y="1591056"/>
            <a:ext cx="1499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559552" y="2103120"/>
            <a:ext cx="14996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Models trained on synthetic + real data for robustness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9752" y="21214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7223760" y="1097280"/>
            <a:ext cx="1682496" cy="2286000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223760" y="1097280"/>
            <a:ext cx="1682496" cy="47548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296912" y="113385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0E1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50E1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2480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7315200" y="1591056"/>
            <a:ext cx="1499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Closed-Loop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315200" y="2103120"/>
            <a:ext cx="14996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Model predictions tested back inside the twin before deploy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01168" y="3529584"/>
            <a:ext cx="8778240" cy="914400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7472" y="365760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877824" y="35661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The AI Training Advantage: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7824" y="38587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1133856" y="384048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Generate millions of labelled training samples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7824" y="4114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1133856" y="409651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Test dangerous scenarios without real-world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92624" y="38587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5248656" y="384048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Eliminate data scarcity for rare failure modes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92624" y="4114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5248656" y="409651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Iterate model versions 10× faster than real-world testing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5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D22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8641080" y="91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84048" y="118872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Industry Applications at Scale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84048" y="548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Where digital twins are creating the highest executive impact today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01168" y="1060704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201168" y="1060704"/>
            <a:ext cx="2816352" cy="438912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8" y="11155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676656" y="1143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74320" y="1517904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40% ↓ downtime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17922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530352" y="177393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Simulate machine failure before it occurs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2048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/>
          <p:nvPr/>
        </p:nvSpPr>
        <p:spPr>
          <a:xfrm>
            <a:off x="530352" y="202996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Train predictive maintenance AI on twin data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23042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530352" y="228600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Digital assembly line optimisation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145536" y="1060704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1A8A5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145536" y="1060704"/>
            <a:ext cx="2816352" cy="438912"/>
          </a:xfrm>
          <a:prstGeom prst="rect">
            <a:avLst/>
          </a:prstGeom>
          <a:solidFill>
            <a:srgbClr val="1A8A5A"/>
          </a:solidFill>
          <a:ln cap="flat" cmpd="sng" w="12700">
            <a:solidFill>
              <a:srgbClr val="1A8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6976" y="11155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/>
          <p:nvPr/>
        </p:nvSpPr>
        <p:spPr>
          <a:xfrm>
            <a:off x="3621024" y="1143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218688" y="1517904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35% ↑ diagnostic accuracy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17922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3474720" y="177393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Patient digital twins for personalised care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048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3474720" y="202996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Drug trial simulation — no patient risk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3042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3474720" y="228600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Surgical AI trained on virtual anatomy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089904" y="1060704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8A5A1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089904" y="1060704"/>
            <a:ext cx="2816352" cy="438912"/>
          </a:xfrm>
          <a:prstGeom prst="rect">
            <a:avLst/>
          </a:prstGeom>
          <a:solidFill>
            <a:srgbClr val="8A5A1A"/>
          </a:solidFill>
          <a:ln cap="flat" cmpd="sng" w="12700">
            <a:solidFill>
              <a:srgbClr val="8A5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1344" y="11155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6565392" y="1143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Autonomous Vehicles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163056" y="1517904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10B+ miles simulated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17922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6419088" y="177393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Train AV perception models on rare edge cases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2048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6419088" y="202996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Weather and failure scenario generation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23042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/>
          <p:nvPr/>
        </p:nvSpPr>
        <p:spPr>
          <a:xfrm>
            <a:off x="6419088" y="228600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Crash testing AI safely at infinite scale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01168" y="2724912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6B3A8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201168" y="2724912"/>
            <a:ext cx="2816352" cy="438912"/>
          </a:xfrm>
          <a:prstGeom prst="rect">
            <a:avLst/>
          </a:prstGeom>
          <a:solidFill>
            <a:srgbClr val="6B3A8A"/>
          </a:solidFill>
          <a:ln cap="flat" cmpd="sng" w="12700">
            <a:solidFill>
              <a:srgbClr val="6B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2608" y="277977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/>
          <p:nvPr/>
        </p:nvSpPr>
        <p:spPr>
          <a:xfrm>
            <a:off x="676656" y="28072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Cities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274320" y="3182112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28% ↓ energy use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34564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/>
          <p:nvPr/>
        </p:nvSpPr>
        <p:spPr>
          <a:xfrm>
            <a:off x="530352" y="3438144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Simulate traffic flow before road changes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37124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530352" y="369417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Emergency response AI training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39684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/>
          <p:nvPr/>
        </p:nvSpPr>
        <p:spPr>
          <a:xfrm>
            <a:off x="530352" y="395020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Grid load optimisation via twin modelling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145536" y="2724912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145536" y="2724912"/>
            <a:ext cx="2816352" cy="43891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36976" y="277977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/>
          <p:nvPr/>
        </p:nvSpPr>
        <p:spPr>
          <a:xfrm>
            <a:off x="3621024" y="28072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&amp; Utilities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218688" y="3182112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$2.4B saved in grid costs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34564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/>
          <p:nvPr/>
        </p:nvSpPr>
        <p:spPr>
          <a:xfrm>
            <a:off x="3474720" y="3438144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Predict wind turbine failure with AI twins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37124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/>
          <p:nvPr/>
        </p:nvSpPr>
        <p:spPr>
          <a:xfrm>
            <a:off x="3474720" y="369417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Nuclear plant digital twin safety systems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39684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/>
          <p:nvPr/>
        </p:nvSpPr>
        <p:spPr>
          <a:xfrm>
            <a:off x="3474720" y="395020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Renewable grid balancing optimisation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089904" y="2724912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6089904" y="2724912"/>
            <a:ext cx="2816352" cy="438912"/>
          </a:xfrm>
          <a:prstGeom prst="rect">
            <a:avLst/>
          </a:prstGeom>
          <a:solidFill>
            <a:srgbClr val="7C5CBF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81344" y="277977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/>
          <p:nvPr/>
        </p:nvSpPr>
        <p:spPr>
          <a:xfrm>
            <a:off x="6565392" y="28072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Life Sciences &amp; R&amp;D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163056" y="3182112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60% faster drug discovery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34564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/>
          <p:nvPr/>
        </p:nvSpPr>
        <p:spPr>
          <a:xfrm>
            <a:off x="6419088" y="3438144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Molecular digital twins for compound testing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37124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/>
          <p:nvPr/>
        </p:nvSpPr>
        <p:spPr>
          <a:xfrm>
            <a:off x="6419088" y="369417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AI trained on simulated clinical trials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39684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"/>
          <p:cNvSpPr/>
          <p:nvPr/>
        </p:nvSpPr>
        <p:spPr>
          <a:xfrm>
            <a:off x="6419088" y="395020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Protein folding and synthesis simulation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D22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8641080" y="91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84048" y="118872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Technology Stack &amp; Key Platforms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84048" y="548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The enterprise-grade tooling powering production digital twin programmes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28600" y="10241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Architecture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28600" y="1371600"/>
            <a:ext cx="4279392" cy="512064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228600" y="1371600"/>
            <a:ext cx="512064" cy="512064"/>
          </a:xfrm>
          <a:prstGeom prst="rect">
            <a:avLst/>
          </a:prstGeom>
          <a:solidFill>
            <a:srgbClr val="007A9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228600" y="1481328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04672" y="1435608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Ingestion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804672" y="1645920"/>
            <a:ext cx="3584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Apache Kafka · AWS IoT Core · Azure IoT Hub · MQTT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28600" y="1956816"/>
            <a:ext cx="4279392" cy="512064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228600" y="1956816"/>
            <a:ext cx="512064" cy="5120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228600" y="2066544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04672" y="2020824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Twin Simulation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804672" y="2231136"/>
            <a:ext cx="3584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NVIDIA Omniverse · Ansys Twin Builder · Modelica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228600" y="2542032"/>
            <a:ext cx="4279392" cy="512064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228600" y="2542032"/>
            <a:ext cx="512064" cy="512064"/>
          </a:xfrm>
          <a:prstGeom prst="rect">
            <a:avLst/>
          </a:prstGeom>
          <a:solidFill>
            <a:srgbClr val="7C5CBF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228600" y="2651760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804672" y="2606040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AI/ML 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804672" y="2816352"/>
            <a:ext cx="3584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TensorFlow · PyTorch · NVIDIA Isaac Sim · Ray RLlib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228600" y="3127248"/>
            <a:ext cx="4279392" cy="512064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228600" y="3127248"/>
            <a:ext cx="512064" cy="512064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228600" y="3236976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804672" y="3191256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804672" y="3401568"/>
            <a:ext cx="3584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Databricks · Snowflake · Azure Digital Twins · AWS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228600" y="3712464"/>
            <a:ext cx="4279392" cy="512064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228600" y="3712464"/>
            <a:ext cx="512064" cy="512064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228600" y="3822192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804672" y="3776472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Visualisation &amp; 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804672" y="3986784"/>
            <a:ext cx="3584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Unity · Unreal Engine · Three.js · Grafana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663440" y="1024128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Build vs Buy: Platform Comparison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663440" y="1371600"/>
            <a:ext cx="1920240" cy="32918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4736592" y="13898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6620256" y="1371600"/>
            <a:ext cx="1645920" cy="329184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6693408" y="1389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Use Case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8284464" y="1371600"/>
            <a:ext cx="713232" cy="329184"/>
          </a:xfrm>
          <a:prstGeom prst="rect">
            <a:avLst/>
          </a:prstGeom>
          <a:solidFill>
            <a:srgbClr val="007A9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8357616" y="1389888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663440" y="1719072"/>
            <a:ext cx="192024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4736592" y="173736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NVIDIA Omniverse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6620256" y="1719072"/>
            <a:ext cx="164592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6693408" y="1737360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Manufacturing, robotics simulation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8284464" y="1719072"/>
            <a:ext cx="713232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8357616" y="1737360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663440" y="2103120"/>
            <a:ext cx="192024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4736592" y="2121408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Digital Twins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620256" y="2103120"/>
            <a:ext cx="164592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6693408" y="2121408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Smart buildings, supply chain, IoT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8284464" y="2103120"/>
            <a:ext cx="713232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8357616" y="2121408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Cloud-native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663440" y="2487168"/>
            <a:ext cx="192024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4736592" y="2505456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IoT TwinMaker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620256" y="2487168"/>
            <a:ext cx="164592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6693408" y="2505456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Industrial operations, connected assets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8284464" y="2487168"/>
            <a:ext cx="713232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8357616" y="2505456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Cloud-native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663440" y="2871216"/>
            <a:ext cx="192024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4736592" y="2889504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Siemens MindSphere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620256" y="2871216"/>
            <a:ext cx="164592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6693408" y="2889504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Industrial OT/IT convergence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8284464" y="2871216"/>
            <a:ext cx="713232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8357616" y="2889504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8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DB87A"/>
                </a:solidFill>
                <a:latin typeface="Calibri"/>
                <a:ea typeface="Calibri"/>
                <a:cs typeface="Calibri"/>
                <a:sym typeface="Calibri"/>
              </a:rPr>
              <a:t>Industrial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4663440" y="3255264"/>
            <a:ext cx="192024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4736592" y="3273552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ANSYS Twin Builder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620256" y="3255264"/>
            <a:ext cx="164592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693408" y="327355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Engineering simulation, aerospace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8284464" y="3255264"/>
            <a:ext cx="713232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8357616" y="3273552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5CBF"/>
                </a:solidFill>
                <a:latin typeface="Calibri"/>
                <a:ea typeface="Calibri"/>
                <a:cs typeface="Calibri"/>
                <a:sym typeface="Calibri"/>
              </a:rPr>
              <a:t>Specialist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4663440" y="3639312"/>
            <a:ext cx="192024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4736592" y="365760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Unity Simulation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6620256" y="3639312"/>
            <a:ext cx="164592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6693408" y="3657600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AV training, robotics, games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8284464" y="3639312"/>
            <a:ext cx="713232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8357616" y="3657600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8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DB87A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5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D22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8641080" y="91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84048" y="118872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Georg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Executive Roadmap &amp; Strategic Imperatives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84048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From pilot to enterprise-scale digital twin programme in 12 months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526280" y="1005840"/>
            <a:ext cx="36576" cy="3840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228600" y="10241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12-Month Implementation Roadmap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228600" y="1371600"/>
            <a:ext cx="4187952" cy="74980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228600" y="1371600"/>
            <a:ext cx="1005840" cy="749808"/>
          </a:xfrm>
          <a:prstGeom prst="rect">
            <a:avLst/>
          </a:prstGeom>
          <a:solidFill>
            <a:srgbClr val="007A9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246888" y="146304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· Q1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246888" y="1719072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1" name="Google Shape;3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14630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8"/>
          <p:cNvSpPr/>
          <p:nvPr/>
        </p:nvSpPr>
        <p:spPr>
          <a:xfrm>
            <a:off x="1508760" y="1444752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Select 1–2 high-value use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3" name="Google Shape;3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168249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8"/>
          <p:cNvSpPr/>
          <p:nvPr/>
        </p:nvSpPr>
        <p:spPr>
          <a:xfrm>
            <a:off x="1508760" y="1664208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Map sensor / data availability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5" name="Google Shape;3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190195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8"/>
          <p:cNvSpPr/>
          <p:nvPr/>
        </p:nvSpPr>
        <p:spPr>
          <a:xfrm>
            <a:off x="1508760" y="1883664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Choose platform (cloud vs on-prem)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228600" y="2212848"/>
            <a:ext cx="4187952" cy="74980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228600" y="2212848"/>
            <a:ext cx="1005840" cy="7498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246888" y="2304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· Q2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246888" y="256032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Pilot Twin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1" name="Google Shape;3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23042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8"/>
          <p:cNvSpPr/>
          <p:nvPr/>
        </p:nvSpPr>
        <p:spPr>
          <a:xfrm>
            <a:off x="1508760" y="2286000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Deploy first digital twin at dept. level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3" name="Google Shape;3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252374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8"/>
          <p:cNvSpPr/>
          <p:nvPr/>
        </p:nvSpPr>
        <p:spPr>
          <a:xfrm>
            <a:off x="1508760" y="2505456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Baseline AI model on synthetic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5" name="Google Shape;3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27432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8"/>
          <p:cNvSpPr/>
          <p:nvPr/>
        </p:nvSpPr>
        <p:spPr>
          <a:xfrm>
            <a:off x="1508760" y="2724912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Validate vs real-world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228600" y="3054096"/>
            <a:ext cx="4187952" cy="74980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228600" y="3054096"/>
            <a:ext cx="1005840" cy="749808"/>
          </a:xfrm>
          <a:prstGeom prst="rect">
            <a:avLst/>
          </a:prstGeom>
          <a:solidFill>
            <a:srgbClr val="7C5CBF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246888" y="314553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· Q3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246888" y="3401568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 &amp; Integrate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314553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8"/>
          <p:cNvSpPr/>
          <p:nvPr/>
        </p:nvSpPr>
        <p:spPr>
          <a:xfrm>
            <a:off x="1508760" y="3127248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Connect to enterprise data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33649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8"/>
          <p:cNvSpPr/>
          <p:nvPr/>
        </p:nvSpPr>
        <p:spPr>
          <a:xfrm>
            <a:off x="1508760" y="3346704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Train production AI models on twin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8"/>
          <p:cNvSpPr/>
          <p:nvPr/>
        </p:nvSpPr>
        <p:spPr>
          <a:xfrm>
            <a:off x="1508760" y="3566160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Integrate with operations dashboards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228600" y="3895344"/>
            <a:ext cx="4187952" cy="74980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228600" y="3895344"/>
            <a:ext cx="1005840" cy="74980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246888" y="398678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E1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0E1F"/>
                </a:solidFill>
                <a:latin typeface="Calibri"/>
                <a:ea typeface="Calibri"/>
                <a:cs typeface="Calibri"/>
                <a:sym typeface="Calibri"/>
              </a:rPr>
              <a:t>Phase 4 · Q4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246888" y="4242816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E1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0E1F"/>
                </a:solidFill>
                <a:latin typeface="Calibri"/>
                <a:ea typeface="Calibri"/>
                <a:cs typeface="Calibri"/>
                <a:sym typeface="Calibri"/>
              </a:rPr>
              <a:t>Govern &amp; Expand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398678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8"/>
          <p:cNvSpPr/>
          <p:nvPr/>
        </p:nvSpPr>
        <p:spPr>
          <a:xfrm>
            <a:off x="1508760" y="3968496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Establish Twin Centre of Excellence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42062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8"/>
          <p:cNvSpPr/>
          <p:nvPr/>
        </p:nvSpPr>
        <p:spPr>
          <a:xfrm>
            <a:off x="1508760" y="4187952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Expand to 3+ business units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5" name="Google Shape;3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442569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8"/>
          <p:cNvSpPr/>
          <p:nvPr/>
        </p:nvSpPr>
        <p:spPr>
          <a:xfrm>
            <a:off x="1508760" y="4407408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Define ROI metrics &amp; KPI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663440" y="102412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5 Strategic Imperatives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663440" y="1371600"/>
            <a:ext cx="4251960" cy="56692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4663440" y="1371600"/>
            <a:ext cx="457200" cy="56692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1728" y="14813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8"/>
          <p:cNvSpPr/>
          <p:nvPr/>
        </p:nvSpPr>
        <p:spPr>
          <a:xfrm>
            <a:off x="5193792" y="1435608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Governance 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5193792" y="1664208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Define data ownership, lineage and sovereignty before deploying any twin infrastructure.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663440" y="2029968"/>
            <a:ext cx="4251960" cy="56692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4663440" y="2029968"/>
            <a:ext cx="457200" cy="566928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1728" y="21396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8"/>
          <p:cNvSpPr/>
          <p:nvPr/>
        </p:nvSpPr>
        <p:spPr>
          <a:xfrm>
            <a:off x="5193792" y="2093976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Choose Open Architectures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5193792" y="2322576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Avoid proprietary lock-in. Prioritise platforms with open APIs and standard protocols (OPC-UA, DTDL).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4663440" y="2688336"/>
            <a:ext cx="4251960" cy="56692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4663440" y="2688336"/>
            <a:ext cx="457200" cy="566928"/>
          </a:xfrm>
          <a:prstGeom prst="rect">
            <a:avLst/>
          </a:prstGeom>
          <a:solidFill>
            <a:srgbClr val="7C5CBF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1728" y="27980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8"/>
          <p:cNvSpPr/>
          <p:nvPr/>
        </p:nvSpPr>
        <p:spPr>
          <a:xfrm>
            <a:off x="5193792" y="2752344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in the Loop from Day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5193792" y="2980944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Embed AI model training pipelines into the twin from inception — not as an afterthought.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663440" y="3346704"/>
            <a:ext cx="4251960" cy="56692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8"/>
          <p:cNvSpPr/>
          <p:nvPr/>
        </p:nvSpPr>
        <p:spPr>
          <a:xfrm>
            <a:off x="4663440" y="3346704"/>
            <a:ext cx="457200" cy="56692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1728" y="34564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8"/>
          <p:cNvSpPr/>
          <p:nvPr/>
        </p:nvSpPr>
        <p:spPr>
          <a:xfrm>
            <a:off x="5193792" y="341071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Cross-Functional Ownership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5193792" y="3639312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Digital twins fail when siloed in IT. Business, operations and data science must co-own the programme.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4663440" y="4005072"/>
            <a:ext cx="4251960" cy="56692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1DB8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4663440" y="4005072"/>
            <a:ext cx="457200" cy="566928"/>
          </a:xfrm>
          <a:prstGeom prst="rect">
            <a:avLst/>
          </a:prstGeom>
          <a:solidFill>
            <a:srgbClr val="1DB87A"/>
          </a:solidFill>
          <a:ln cap="flat" cmpd="sng" w="12700">
            <a:solidFill>
              <a:srgbClr val="1DB8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0" name="Google Shape;38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1728" y="41148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8"/>
          <p:cNvSpPr/>
          <p:nvPr/>
        </p:nvSpPr>
        <p:spPr>
          <a:xfrm>
            <a:off x="5193792" y="4069080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ROI Continuously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5193792" y="4297680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Track: downtime reduction, training data cost savings, AI inference accuracy improvement vs baseline.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8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9"/>
          <p:cNvSpPr/>
          <p:nvPr/>
        </p:nvSpPr>
        <p:spPr>
          <a:xfrm>
            <a:off x="5486400" y="-1828800"/>
            <a:ext cx="8686800" cy="8686800"/>
          </a:xfrm>
          <a:prstGeom prst="ellipse">
            <a:avLst/>
          </a:prstGeom>
          <a:solidFill>
            <a:srgbClr val="00B4D8">
              <a:alpha val="5098"/>
            </a:srgbClr>
          </a:solidFill>
          <a:ln cap="flat" cmpd="sng" w="12700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6400800" y="-914400"/>
            <a:ext cx="6583680" cy="6583680"/>
          </a:xfrm>
          <a:prstGeom prst="ellipse">
            <a:avLst/>
          </a:prstGeom>
          <a:solidFill>
            <a:srgbClr val="00B4D8">
              <a:alpha val="5098"/>
            </a:srgbClr>
          </a:solidFill>
          <a:ln cap="flat" cmpd="sng" w="12700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7132320" y="-182880"/>
            <a:ext cx="4572000" cy="4572000"/>
          </a:xfrm>
          <a:prstGeom prst="ellipse">
            <a:avLst/>
          </a:prstGeom>
          <a:solidFill>
            <a:srgbClr val="00B4D8">
              <a:alpha val="5098"/>
            </a:srgbClr>
          </a:solidFill>
          <a:ln cap="flat" cmpd="sng" w="12700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7680960" y="457200"/>
            <a:ext cx="2743200" cy="2743200"/>
          </a:xfrm>
          <a:prstGeom prst="ellipse">
            <a:avLst/>
          </a:prstGeom>
          <a:solidFill>
            <a:srgbClr val="00B4D8">
              <a:alpha val="5098"/>
            </a:srgbClr>
          </a:solidFill>
          <a:ln cap="flat" cmpd="sng" w="12700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256032" y="1024128"/>
            <a:ext cx="58521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Real World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is Now a Training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Ground.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256032" y="3145536"/>
            <a:ext cx="3108960" cy="43891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256032" y="3255264"/>
            <a:ext cx="53949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Organisations that deploy digital twins today are building an insurmountable AI training advantage. Every simulation is a lesson. Every lesson compounds. The gap between leaders and laggards will be irreversible by 2028.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256032" y="4133088"/>
            <a:ext cx="3474720" cy="6949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347472" y="41879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0E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0E1F"/>
                </a:solidFill>
                <a:latin typeface="Calibri"/>
                <a:ea typeface="Calibri"/>
                <a:cs typeface="Calibri"/>
                <a:sym typeface="Calibri"/>
              </a:rPr>
              <a:t>Build Your Digital Twin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>
            <a:hlinkClick r:id="rId3"/>
          </p:cNvPr>
          <p:cNvSpPr/>
          <p:nvPr/>
        </p:nvSpPr>
        <p:spPr>
          <a:xfrm>
            <a:off x="347472" y="446227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0E1F"/>
              </a:buClr>
              <a:buSzPts val="1300"/>
              <a:buFont typeface="Calibri"/>
              <a:buNone/>
            </a:pPr>
            <a:r>
              <a:rPr b="1" i="0" lang="en-US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accredian.com  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5989320" y="27432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5961888" y="658368"/>
            <a:ext cx="2971800" cy="768096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5" name="Google Shape;40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1616" y="8595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9"/>
          <p:cNvSpPr/>
          <p:nvPr/>
        </p:nvSpPr>
        <p:spPr>
          <a:xfrm>
            <a:off x="6510528" y="749808"/>
            <a:ext cx="23408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twins generate limitless AI training data — safely, cheaply, at scale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5961888" y="1572768"/>
            <a:ext cx="2971800" cy="768096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8" name="Google Shape;40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1616" y="17739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9"/>
          <p:cNvSpPr/>
          <p:nvPr/>
        </p:nvSpPr>
        <p:spPr>
          <a:xfrm>
            <a:off x="6510528" y="1664208"/>
            <a:ext cx="23408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Closed-loop simulation cuts AI development cycles from years to months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5961888" y="2487168"/>
            <a:ext cx="2971800" cy="768096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1" name="Google Shape;41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71616" y="26883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9"/>
          <p:cNvSpPr/>
          <p:nvPr/>
        </p:nvSpPr>
        <p:spPr>
          <a:xfrm>
            <a:off x="6510528" y="2578608"/>
            <a:ext cx="23408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Cross-industry adoption is accelerating — Manufacturing, Health, Energy, AV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5961888" y="3401568"/>
            <a:ext cx="2971800" cy="768096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1DB8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4" name="Google Shape;41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1616" y="36027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9"/>
          <p:cNvSpPr/>
          <p:nvPr/>
        </p:nvSpPr>
        <p:spPr>
          <a:xfrm>
            <a:off x="6510528" y="3493008"/>
            <a:ext cx="23408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First-movers gain a compounding AI advantage that latecomers cannot replicate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