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" name="Google Shape;34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9" name="Google Shape;79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1" name="Google Shape;161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1" name="Google Shape;241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0" name="Google Shape;290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Relationship Id="rId4" Type="http://schemas.openxmlformats.org/officeDocument/2006/relationships/image" Target="../media/image17.png"/><Relationship Id="rId5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Relationship Id="rId4" Type="http://schemas.openxmlformats.org/officeDocument/2006/relationships/image" Target="../media/image1.png"/><Relationship Id="rId11" Type="http://schemas.openxmlformats.org/officeDocument/2006/relationships/image" Target="../media/image6.png"/><Relationship Id="rId10" Type="http://schemas.openxmlformats.org/officeDocument/2006/relationships/image" Target="../media/image5.png"/><Relationship Id="rId12" Type="http://schemas.openxmlformats.org/officeDocument/2006/relationships/hyperlink" Target="https://accredian.com/" TargetMode="External"/><Relationship Id="rId9" Type="http://schemas.openxmlformats.org/officeDocument/2006/relationships/image" Target="../media/image7.png"/><Relationship Id="rId5" Type="http://schemas.openxmlformats.org/officeDocument/2006/relationships/image" Target="../media/image12.png"/><Relationship Id="rId6" Type="http://schemas.openxmlformats.org/officeDocument/2006/relationships/image" Target="../media/image22.png"/><Relationship Id="rId7" Type="http://schemas.openxmlformats.org/officeDocument/2006/relationships/image" Target="../media/image8.png"/><Relationship Id="rId8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1.png"/><Relationship Id="rId6" Type="http://schemas.openxmlformats.org/officeDocument/2006/relationships/image" Target="../media/image24.png"/><Relationship Id="rId7" Type="http://schemas.openxmlformats.org/officeDocument/2006/relationships/image" Target="../media/image10.png"/><Relationship Id="rId8" Type="http://schemas.openxmlformats.org/officeDocument/2006/relationships/hyperlink" Target="https://accredian.com/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2.png"/><Relationship Id="rId4" Type="http://schemas.openxmlformats.org/officeDocument/2006/relationships/hyperlink" Target="https://accredian.com/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Relationship Id="rId4" Type="http://schemas.openxmlformats.org/officeDocument/2006/relationships/image" Target="../media/image24.png"/><Relationship Id="rId5" Type="http://schemas.openxmlformats.org/officeDocument/2006/relationships/image" Target="../media/image10.png"/><Relationship Id="rId6" Type="http://schemas.openxmlformats.org/officeDocument/2006/relationships/hyperlink" Target="https://accredian.com/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6.png"/><Relationship Id="rId4" Type="http://schemas.openxmlformats.org/officeDocument/2006/relationships/image" Target="../media/image7.png"/><Relationship Id="rId5" Type="http://schemas.openxmlformats.org/officeDocument/2006/relationships/image" Target="../media/image27.png"/><Relationship Id="rId6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3E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E3160"/>
          </a:solidFill>
          <a:ln cap="flat" cmpd="sng" w="12700">
            <a:solidFill>
              <a:srgbClr val="1E31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3"/>
          <p:cNvSpPr/>
          <p:nvPr/>
        </p:nvSpPr>
        <p:spPr>
          <a:xfrm>
            <a:off x="3474720" y="0"/>
            <a:ext cx="54864" cy="5143500"/>
          </a:xfrm>
          <a:prstGeom prst="rect">
            <a:avLst/>
          </a:prstGeom>
          <a:solidFill>
            <a:srgbClr val="C9982A"/>
          </a:solidFill>
          <a:ln cap="flat" cmpd="sng" w="12700">
            <a:solidFill>
              <a:srgbClr val="C998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3"/>
          <p:cNvSpPr/>
          <p:nvPr/>
        </p:nvSpPr>
        <p:spPr>
          <a:xfrm>
            <a:off x="-548640" y="-548640"/>
            <a:ext cx="2286000" cy="2286000"/>
          </a:xfrm>
          <a:prstGeom prst="ellipse">
            <a:avLst/>
          </a:prstGeom>
          <a:solidFill>
            <a:srgbClr val="C9982A">
              <a:alpha val="12156"/>
            </a:srgbClr>
          </a:solidFill>
          <a:ln cap="flat" cmpd="sng" w="12700">
            <a:solidFill>
              <a:srgbClr val="1E31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-182880" y="-182880"/>
            <a:ext cx="1280160" cy="1280160"/>
          </a:xfrm>
          <a:prstGeom prst="ellipse">
            <a:avLst/>
          </a:prstGeom>
          <a:solidFill>
            <a:srgbClr val="C9982A">
              <a:alpha val="25098"/>
            </a:srgbClr>
          </a:solidFill>
          <a:ln cap="flat" cmpd="sng" w="12700">
            <a:solidFill>
              <a:srgbClr val="1E31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7132320" y="3474720"/>
            <a:ext cx="2560320" cy="2560320"/>
          </a:xfrm>
          <a:prstGeom prst="ellipse">
            <a:avLst/>
          </a:prstGeom>
          <a:solidFill>
            <a:srgbClr val="1E3160">
              <a:alpha val="40000"/>
            </a:srgbClr>
          </a:solidFill>
          <a:ln cap="flat" cmpd="sng" w="12700">
            <a:solidFill>
              <a:srgbClr val="1E31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320040" y="1554480"/>
            <a:ext cx="2834640" cy="566928"/>
          </a:xfrm>
          <a:prstGeom prst="rect">
            <a:avLst/>
          </a:prstGeom>
          <a:solidFill>
            <a:srgbClr val="1A4A7A"/>
          </a:solidFill>
          <a:ln cap="flat" cmpd="sng" w="12700">
            <a:solidFill>
              <a:srgbClr val="1A4A7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" name="Google Shape;1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488" y="1655064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/>
          <p:nvPr/>
        </p:nvSpPr>
        <p:spPr>
          <a:xfrm>
            <a:off x="960120" y="1664208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BUILD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320040" y="2331720"/>
            <a:ext cx="2834640" cy="566928"/>
          </a:xfrm>
          <a:prstGeom prst="rect">
            <a:avLst/>
          </a:prstGeom>
          <a:solidFill>
            <a:srgbClr val="1A6B4A"/>
          </a:solidFill>
          <a:ln cap="flat" cmpd="sng" w="12700">
            <a:solidFill>
              <a:srgbClr val="1A6B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" y="2432304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/>
          <p:nvPr/>
        </p:nvSpPr>
        <p:spPr>
          <a:xfrm>
            <a:off x="960120" y="2441448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320040" y="3108960"/>
            <a:ext cx="2834640" cy="566928"/>
          </a:xfrm>
          <a:prstGeom prst="rect">
            <a:avLst/>
          </a:prstGeom>
          <a:solidFill>
            <a:srgbClr val="6B2D7A"/>
          </a:solidFill>
          <a:ln cap="flat" cmpd="sng" w="12700">
            <a:solidFill>
              <a:srgbClr val="6B2D7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" name="Google Shape;24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5488" y="3209544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3"/>
          <p:cNvSpPr/>
          <p:nvPr/>
        </p:nvSpPr>
        <p:spPr>
          <a:xfrm>
            <a:off x="960120" y="3218688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PARTNER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3749040" y="777240"/>
            <a:ext cx="516636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Georgia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Build vs Buy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Georgia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vs Partner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3749040" y="2578608"/>
            <a:ext cx="2560320" cy="41148"/>
          </a:xfrm>
          <a:prstGeom prst="rect">
            <a:avLst/>
          </a:prstGeom>
          <a:solidFill>
            <a:srgbClr val="C9982A"/>
          </a:solidFill>
          <a:ln cap="flat" cmpd="sng" w="12700">
            <a:solidFill>
              <a:srgbClr val="C998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3749040" y="2697480"/>
            <a:ext cx="5166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3F7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D4E3F7"/>
                </a:solidFill>
                <a:latin typeface="Calibri"/>
                <a:ea typeface="Calibri"/>
                <a:cs typeface="Calibri"/>
                <a:sym typeface="Calibri"/>
              </a:rPr>
              <a:t>The AI Strategy Decision Framework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3F7"/>
              </a:buClr>
              <a:buSzPts val="1700"/>
              <a:buFont typeface="Calibri"/>
              <a:buNone/>
            </a:pPr>
            <a:r>
              <a:rPr b="0" i="0" lang="en-US" sz="1700" u="none" cap="none" strike="noStrike">
                <a:solidFill>
                  <a:srgbClr val="D4E3F7"/>
                </a:solidFill>
                <a:latin typeface="Calibri"/>
                <a:ea typeface="Calibri"/>
                <a:cs typeface="Calibri"/>
                <a:sym typeface="Calibri"/>
              </a:rPr>
              <a:t>for Enterprise Leaders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0" y="4832604"/>
            <a:ext cx="9144000" cy="22860"/>
          </a:xfrm>
          <a:prstGeom prst="rect">
            <a:avLst/>
          </a:prstGeom>
          <a:solidFill>
            <a:srgbClr val="C9982A"/>
          </a:solidFill>
          <a:ln cap="flat" cmpd="sng" w="12700">
            <a:solidFill>
              <a:srgbClr val="C998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Visit us at: </a:t>
            </a:r>
            <a:r>
              <a:rPr b="1" i="0" lang="en-US" sz="700" u="sng" cap="none" strike="noStrike">
                <a:solidFill>
                  <a:srgbClr val="48CAE4"/>
                </a:solidFill>
                <a:latin typeface="Calibri"/>
                <a:ea typeface="Calibri"/>
                <a:cs typeface="Calibri"/>
                <a:sym typeface="Calibri"/>
              </a:rPr>
              <a:t>https://accredian.com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C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0" y="960120"/>
            <a:ext cx="9144000" cy="41148"/>
          </a:xfrm>
          <a:prstGeom prst="rect">
            <a:avLst/>
          </a:prstGeom>
          <a:solidFill>
            <a:srgbClr val="C9982A"/>
          </a:solidFill>
          <a:ln cap="flat" cmpd="sng" w="12700">
            <a:solidFill>
              <a:srgbClr val="C998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8686800" y="91440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FA3C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FA3C0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11480" y="128016"/>
            <a:ext cx="6858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lang="en-US" sz="2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The Strategic Context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411480" y="530352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3F7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D4E3F7"/>
                </a:solidFill>
                <a:latin typeface="Calibri"/>
                <a:ea typeface="Calibri"/>
                <a:cs typeface="Calibri"/>
                <a:sym typeface="Calibri"/>
              </a:rPr>
              <a:t>Why the Build vs Buy vs Partner decision defines your AI trajectory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274320" y="1115568"/>
            <a:ext cx="2743200" cy="141732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" name="Google Shape;4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912" y="123444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4"/>
          <p:cNvSpPr/>
          <p:nvPr/>
        </p:nvSpPr>
        <p:spPr>
          <a:xfrm>
            <a:off x="960120" y="1170432"/>
            <a:ext cx="1920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982A"/>
              </a:buClr>
              <a:buSzPts val="3800"/>
              <a:buFont typeface="Georgia"/>
              <a:buNone/>
            </a:pPr>
            <a:r>
              <a:rPr b="1" lang="en-US" sz="3800">
                <a:solidFill>
                  <a:srgbClr val="C9982A"/>
                </a:solidFill>
                <a:latin typeface="Georgia"/>
                <a:ea typeface="Georgia"/>
                <a:cs typeface="Georgia"/>
                <a:sym typeface="Georgia"/>
              </a:rPr>
              <a:t>73%</a:t>
            </a:r>
            <a:endParaRPr sz="3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411480" y="1737360"/>
            <a:ext cx="24688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3F7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D4E3F7"/>
                </a:solidFill>
                <a:latin typeface="Calibri"/>
                <a:ea typeface="Calibri"/>
                <a:cs typeface="Calibri"/>
                <a:sym typeface="Calibri"/>
              </a:rPr>
              <a:t>of enterprise AI projects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3F7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D4E3F7"/>
                </a:solidFill>
                <a:latin typeface="Calibri"/>
                <a:ea typeface="Calibri"/>
                <a:cs typeface="Calibri"/>
                <a:sym typeface="Calibri"/>
              </a:rPr>
              <a:t>fail to reach production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3218688" y="1115568"/>
            <a:ext cx="2743200" cy="1417320"/>
          </a:xfrm>
          <a:prstGeom prst="rect">
            <a:avLst/>
          </a:prstGeom>
          <a:solidFill>
            <a:srgbClr val="1A4A7A"/>
          </a:solidFill>
          <a:ln cap="flat" cmpd="sng" w="12700">
            <a:solidFill>
              <a:srgbClr val="1A4A7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" name="Google Shape;4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83280" y="123444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4"/>
          <p:cNvSpPr/>
          <p:nvPr/>
        </p:nvSpPr>
        <p:spPr>
          <a:xfrm>
            <a:off x="3904488" y="1170432"/>
            <a:ext cx="1920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982A"/>
              </a:buClr>
              <a:buSzPts val="3800"/>
              <a:buFont typeface="Georgia"/>
              <a:buNone/>
            </a:pPr>
            <a:r>
              <a:rPr b="1" lang="en-US" sz="3800">
                <a:solidFill>
                  <a:srgbClr val="C9982A"/>
                </a:solidFill>
                <a:latin typeface="Georgia"/>
                <a:ea typeface="Georgia"/>
                <a:cs typeface="Georgia"/>
                <a:sym typeface="Georgia"/>
              </a:rPr>
              <a:t>4.2×</a:t>
            </a:r>
            <a:endParaRPr sz="3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3355848" y="1737360"/>
            <a:ext cx="24688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3F7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D4E3F7"/>
                </a:solidFill>
                <a:latin typeface="Calibri"/>
                <a:ea typeface="Calibri"/>
                <a:cs typeface="Calibri"/>
                <a:sym typeface="Calibri"/>
              </a:rPr>
              <a:t>faster time-to-value when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3F7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D4E3F7"/>
                </a:solidFill>
                <a:latin typeface="Calibri"/>
                <a:ea typeface="Calibri"/>
                <a:cs typeface="Calibri"/>
                <a:sym typeface="Calibri"/>
              </a:rPr>
              <a:t>strategy is decided upfront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6163056" y="1115568"/>
            <a:ext cx="2743200" cy="1417320"/>
          </a:xfrm>
          <a:prstGeom prst="rect">
            <a:avLst/>
          </a:prstGeom>
          <a:solidFill>
            <a:srgbClr val="6B2D7A"/>
          </a:solidFill>
          <a:ln cap="flat" cmpd="sng" w="12700">
            <a:solidFill>
              <a:srgbClr val="6B2D7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1" name="Google Shape;51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27648" y="123444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4"/>
          <p:cNvSpPr/>
          <p:nvPr/>
        </p:nvSpPr>
        <p:spPr>
          <a:xfrm>
            <a:off x="6848856" y="1170432"/>
            <a:ext cx="1920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982A"/>
              </a:buClr>
              <a:buSzPts val="3800"/>
              <a:buFont typeface="Georgia"/>
              <a:buNone/>
            </a:pPr>
            <a:r>
              <a:rPr b="1" lang="en-US" sz="3800">
                <a:solidFill>
                  <a:srgbClr val="C9982A"/>
                </a:solidFill>
                <a:latin typeface="Georgia"/>
                <a:ea typeface="Georgia"/>
                <a:cs typeface="Georgia"/>
                <a:sym typeface="Georgia"/>
              </a:rPr>
              <a:t>$2.1T</a:t>
            </a:r>
            <a:endParaRPr sz="3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6300216" y="1737360"/>
            <a:ext cx="24688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3F7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D4E3F7"/>
                </a:solidFill>
                <a:latin typeface="Calibri"/>
                <a:ea typeface="Calibri"/>
                <a:cs typeface="Calibri"/>
                <a:sym typeface="Calibri"/>
              </a:rPr>
              <a:t>global AI market by 2030 —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3F7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D4E3F7"/>
                </a:solidFill>
                <a:latin typeface="Calibri"/>
                <a:ea typeface="Calibri"/>
                <a:cs typeface="Calibri"/>
                <a:sym typeface="Calibri"/>
              </a:rPr>
              <a:t>strategic positioning is critical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274320" y="2724912"/>
            <a:ext cx="8595360" cy="658368"/>
          </a:xfrm>
          <a:prstGeom prst="rect">
            <a:avLst/>
          </a:prstGeom>
          <a:solidFill>
            <a:srgbClr val="1E3160"/>
          </a:solidFill>
          <a:ln cap="flat" cmpd="sng" w="12700">
            <a:solidFill>
              <a:srgbClr val="C9982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5" name="Google Shape;55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5488" y="281635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4"/>
          <p:cNvSpPr/>
          <p:nvPr/>
        </p:nvSpPr>
        <p:spPr>
          <a:xfrm>
            <a:off x="1051560" y="2779776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982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C9982A"/>
                </a:solidFill>
                <a:latin typeface="Calibri"/>
                <a:ea typeface="Calibri"/>
                <a:cs typeface="Calibri"/>
                <a:sym typeface="Calibri"/>
              </a:rPr>
              <a:t>Core Question: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1051560" y="3044952"/>
            <a:ext cx="7589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3F7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D4E3F7"/>
                </a:solidFill>
                <a:latin typeface="Calibri"/>
                <a:ea typeface="Calibri"/>
                <a:cs typeface="Calibri"/>
                <a:sym typeface="Calibri"/>
              </a:rPr>
              <a:t>Should your organisation build proprietary AI, purchase vendor solutions, or form strategic AI partnerships — and under what conditions?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274320" y="3529584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08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4A6080"/>
                </a:solidFill>
                <a:latin typeface="Calibri"/>
                <a:ea typeface="Calibri"/>
                <a:cs typeface="Calibri"/>
                <a:sym typeface="Calibri"/>
              </a:rPr>
              <a:t>Key Decision Dimensions: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274320" y="3822192"/>
            <a:ext cx="1600200" cy="5303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E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0" name="Google Shape;60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5760" y="3913632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4"/>
          <p:cNvSpPr/>
          <p:nvPr/>
        </p:nvSpPr>
        <p:spPr>
          <a:xfrm>
            <a:off x="713232" y="3886200"/>
            <a:ext cx="1097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Time-to-Market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1993392" y="3822192"/>
            <a:ext cx="1600200" cy="5303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E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3" name="Google Shape;63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084832" y="3913632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4"/>
          <p:cNvSpPr/>
          <p:nvPr/>
        </p:nvSpPr>
        <p:spPr>
          <a:xfrm>
            <a:off x="2432304" y="3886200"/>
            <a:ext cx="1097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Capital &amp; OpEx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3712464" y="3822192"/>
            <a:ext cx="1600200" cy="5303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E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6" name="Google Shape;66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803904" y="3913632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4"/>
          <p:cNvSpPr/>
          <p:nvPr/>
        </p:nvSpPr>
        <p:spPr>
          <a:xfrm>
            <a:off x="4151376" y="3886200"/>
            <a:ext cx="1097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Data Privacy &amp; IP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5431536" y="3822192"/>
            <a:ext cx="1600200" cy="5303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E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9" name="Google Shape;69;p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522976" y="3913632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4"/>
          <p:cNvSpPr/>
          <p:nvPr/>
        </p:nvSpPr>
        <p:spPr>
          <a:xfrm>
            <a:off x="5870448" y="3886200"/>
            <a:ext cx="1097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Talent Availability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7150608" y="3822192"/>
            <a:ext cx="1600200" cy="53035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E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2" name="Google Shape;72;p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242048" y="3913632"/>
            <a:ext cx="301752" cy="30175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4"/>
          <p:cNvSpPr/>
          <p:nvPr/>
        </p:nvSpPr>
        <p:spPr>
          <a:xfrm>
            <a:off x="7589520" y="3886200"/>
            <a:ext cx="1097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Customisation Depth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0" y="4832604"/>
            <a:ext cx="9144000" cy="22860"/>
          </a:xfrm>
          <a:prstGeom prst="rect">
            <a:avLst/>
          </a:prstGeom>
          <a:solidFill>
            <a:srgbClr val="C9982A"/>
          </a:solidFill>
          <a:ln cap="flat" cmpd="sng" w="12700">
            <a:solidFill>
              <a:srgbClr val="C998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">
            <a:hlinkClick r:id="rId12"/>
          </p:cNvPr>
          <p:cNvSpPr/>
          <p:nvPr/>
        </p:nvSpPr>
        <p:spPr>
          <a:xfrm>
            <a:off x="0" y="4869180"/>
            <a:ext cx="91440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Visit us at: </a:t>
            </a:r>
            <a:r>
              <a:rPr b="1" lang="en-US" sz="700" u="sng">
                <a:solidFill>
                  <a:srgbClr val="48CAE4"/>
                </a:solidFill>
                <a:latin typeface="Calibri"/>
                <a:ea typeface="Calibri"/>
                <a:cs typeface="Calibri"/>
                <a:sym typeface="Calibri"/>
              </a:rPr>
              <a:t>https://accredian.com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3E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160"/>
          </a:solidFill>
          <a:ln cap="flat" cmpd="sng" w="12700">
            <a:solidFill>
              <a:srgbClr val="1E31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C9982A"/>
          </a:solidFill>
          <a:ln cap="flat" cmpd="sng" w="12700">
            <a:solidFill>
              <a:srgbClr val="C998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8686800" y="91440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FA3C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FA3C0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411480" y="128016"/>
            <a:ext cx="6858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lang="en-US" sz="2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The Three Paths Compared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411480" y="530352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3F7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D4E3F7"/>
                </a:solidFill>
                <a:latin typeface="Calibri"/>
                <a:ea typeface="Calibri"/>
                <a:cs typeface="Calibri"/>
                <a:sym typeface="Calibri"/>
              </a:rPr>
              <a:t>A side-by-side executive view of each AI strategy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228600" y="1060704"/>
            <a:ext cx="2816352" cy="3767328"/>
          </a:xfrm>
          <a:prstGeom prst="rect">
            <a:avLst/>
          </a:prstGeom>
          <a:solidFill>
            <a:srgbClr val="1E5A94"/>
          </a:solidFill>
          <a:ln cap="flat" cmpd="sng" w="12700">
            <a:solidFill>
              <a:srgbClr val="1E5A94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228600" y="1060704"/>
            <a:ext cx="2816352" cy="658368"/>
          </a:xfrm>
          <a:prstGeom prst="rect">
            <a:avLst/>
          </a:prstGeom>
          <a:solidFill>
            <a:srgbClr val="1A4A7A"/>
          </a:solidFill>
          <a:ln cap="flat" cmpd="sng" w="12700">
            <a:solidFill>
              <a:srgbClr val="1A4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9" name="Google Shape;8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3192" y="1152144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5"/>
          <p:cNvSpPr/>
          <p:nvPr/>
        </p:nvSpPr>
        <p:spPr>
          <a:xfrm>
            <a:off x="850392" y="1133856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BUILD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338328" y="1463040"/>
            <a:ext cx="2606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3F7"/>
              </a:buClr>
              <a:buSzPts val="950"/>
              <a:buFont typeface="Calibri"/>
              <a:buNone/>
            </a:pPr>
            <a:r>
              <a:rPr i="1" lang="en-US" sz="950">
                <a:solidFill>
                  <a:srgbClr val="D4E3F7"/>
                </a:solidFill>
                <a:latin typeface="Calibri"/>
                <a:ea typeface="Calibri"/>
                <a:cs typeface="Calibri"/>
                <a:sym typeface="Calibri"/>
              </a:rPr>
              <a:t>In-house Development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338328" y="1783080"/>
            <a:ext cx="259689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PROS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3" name="Google Shape;9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8328" y="202996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5"/>
          <p:cNvSpPr/>
          <p:nvPr/>
        </p:nvSpPr>
        <p:spPr>
          <a:xfrm>
            <a:off x="576072" y="2011680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Full IP ownership &amp; data control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5" name="Google Shape;9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8328" y="235000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5"/>
          <p:cNvSpPr/>
          <p:nvPr/>
        </p:nvSpPr>
        <p:spPr>
          <a:xfrm>
            <a:off x="576072" y="2331720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Maximum customisation depth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7" name="Google Shape;9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8328" y="267004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5"/>
          <p:cNvSpPr/>
          <p:nvPr/>
        </p:nvSpPr>
        <p:spPr>
          <a:xfrm>
            <a:off x="576072" y="2651760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Long-term competitive moat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9" name="Google Shape;9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8328" y="299008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5"/>
          <p:cNvSpPr/>
          <p:nvPr/>
        </p:nvSpPr>
        <p:spPr>
          <a:xfrm>
            <a:off x="576072" y="2971800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vendor lock-in risk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338328" y="3346704"/>
            <a:ext cx="259689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070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E87070"/>
                </a:solidFill>
                <a:latin typeface="Calibri"/>
                <a:ea typeface="Calibri"/>
                <a:cs typeface="Calibri"/>
                <a:sym typeface="Calibri"/>
              </a:rPr>
              <a:t>CONS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2" name="Google Shape;102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8328" y="356616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5"/>
          <p:cNvSpPr/>
          <p:nvPr/>
        </p:nvSpPr>
        <p:spPr>
          <a:xfrm>
            <a:off x="557784" y="3547872"/>
            <a:ext cx="23957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3F7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D4E3F7"/>
                </a:solidFill>
                <a:latin typeface="Calibri"/>
                <a:ea typeface="Calibri"/>
                <a:cs typeface="Calibri"/>
                <a:sym typeface="Calibri"/>
              </a:rPr>
              <a:t>18–36 month time-to-value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4" name="Google Shape;104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8328" y="3858768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5"/>
          <p:cNvSpPr/>
          <p:nvPr/>
        </p:nvSpPr>
        <p:spPr>
          <a:xfrm>
            <a:off x="557784" y="3840480"/>
            <a:ext cx="23957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3F7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D4E3F7"/>
                </a:solidFill>
                <a:latin typeface="Calibri"/>
                <a:ea typeface="Calibri"/>
                <a:cs typeface="Calibri"/>
                <a:sym typeface="Calibri"/>
              </a:rPr>
              <a:t>High capital &amp; talent cost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6" name="Google Shape;106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8328" y="4151376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5"/>
          <p:cNvSpPr/>
          <p:nvPr/>
        </p:nvSpPr>
        <p:spPr>
          <a:xfrm>
            <a:off x="557784" y="4133088"/>
            <a:ext cx="23957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3F7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D4E3F7"/>
                </a:solidFill>
                <a:latin typeface="Calibri"/>
                <a:ea typeface="Calibri"/>
                <a:cs typeface="Calibri"/>
                <a:sym typeface="Calibri"/>
              </a:rPr>
              <a:t>Execution risk is substantial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8" name="Google Shape;108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8328" y="4443984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5"/>
          <p:cNvSpPr/>
          <p:nvPr/>
        </p:nvSpPr>
        <p:spPr>
          <a:xfrm>
            <a:off x="557784" y="4425696"/>
            <a:ext cx="23957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3F7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D4E3F7"/>
                </a:solidFill>
                <a:latin typeface="Calibri"/>
                <a:ea typeface="Calibri"/>
                <a:cs typeface="Calibri"/>
                <a:sym typeface="Calibri"/>
              </a:rPr>
              <a:t>Requires ML team of 10–50+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3127248" y="1060704"/>
            <a:ext cx="2816352" cy="3767328"/>
          </a:xfrm>
          <a:prstGeom prst="rect">
            <a:avLst/>
          </a:prstGeom>
          <a:solidFill>
            <a:srgbClr val="1E7A5A"/>
          </a:solidFill>
          <a:ln cap="flat" cmpd="sng" w="12700">
            <a:solidFill>
              <a:srgbClr val="1E7A5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"/>
          <p:cNvSpPr/>
          <p:nvPr/>
        </p:nvSpPr>
        <p:spPr>
          <a:xfrm>
            <a:off x="3127248" y="1060704"/>
            <a:ext cx="2816352" cy="658368"/>
          </a:xfrm>
          <a:prstGeom prst="rect">
            <a:avLst/>
          </a:prstGeom>
          <a:solidFill>
            <a:srgbClr val="1A6B4A"/>
          </a:solidFill>
          <a:ln cap="flat" cmpd="sng" w="12700">
            <a:solidFill>
              <a:srgbClr val="1A6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2" name="Google Shape;112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91840" y="1152144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5"/>
          <p:cNvSpPr/>
          <p:nvPr/>
        </p:nvSpPr>
        <p:spPr>
          <a:xfrm>
            <a:off x="3749040" y="1133856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BUY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3236976" y="1463040"/>
            <a:ext cx="2606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3F7"/>
              </a:buClr>
              <a:buSzPts val="950"/>
              <a:buFont typeface="Calibri"/>
              <a:buNone/>
            </a:pPr>
            <a:r>
              <a:rPr i="1" lang="en-US" sz="950">
                <a:solidFill>
                  <a:srgbClr val="D4E3F7"/>
                </a:solidFill>
                <a:latin typeface="Calibri"/>
                <a:ea typeface="Calibri"/>
                <a:cs typeface="Calibri"/>
                <a:sym typeface="Calibri"/>
              </a:rPr>
              <a:t>Vendor / SaaS Solution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3236976" y="1783080"/>
            <a:ext cx="259689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PROS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6" name="Google Shape;11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36976" y="202996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/>
          <p:nvPr/>
        </p:nvSpPr>
        <p:spPr>
          <a:xfrm>
            <a:off x="3474720" y="2011680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Fastest deployment (weeks)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8" name="Google Shape;11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36976" y="235000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5"/>
          <p:cNvSpPr/>
          <p:nvPr/>
        </p:nvSpPr>
        <p:spPr>
          <a:xfrm>
            <a:off x="3474720" y="2331720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Predictable SaaS pricing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0" name="Google Shape;12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36976" y="267004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5"/>
          <p:cNvSpPr/>
          <p:nvPr/>
        </p:nvSpPr>
        <p:spPr>
          <a:xfrm>
            <a:off x="3474720" y="2651760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Proven, battle-tested models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2" name="Google Shape;12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36976" y="299008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5"/>
          <p:cNvSpPr/>
          <p:nvPr/>
        </p:nvSpPr>
        <p:spPr>
          <a:xfrm>
            <a:off x="3474720" y="2971800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Vendor handles maintenance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3236976" y="3346704"/>
            <a:ext cx="259689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070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E87070"/>
                </a:solidFill>
                <a:latin typeface="Calibri"/>
                <a:ea typeface="Calibri"/>
                <a:cs typeface="Calibri"/>
                <a:sym typeface="Calibri"/>
              </a:rPr>
              <a:t>CONS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5" name="Google Shape;125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36976" y="356616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5"/>
          <p:cNvSpPr/>
          <p:nvPr/>
        </p:nvSpPr>
        <p:spPr>
          <a:xfrm>
            <a:off x="3456432" y="3547872"/>
            <a:ext cx="23957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3F7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D4E3F7"/>
                </a:solidFill>
                <a:latin typeface="Calibri"/>
                <a:ea typeface="Calibri"/>
                <a:cs typeface="Calibri"/>
                <a:sym typeface="Calibri"/>
              </a:rPr>
              <a:t>Limited customisation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7" name="Google Shape;127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36976" y="3858768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5"/>
          <p:cNvSpPr/>
          <p:nvPr/>
        </p:nvSpPr>
        <p:spPr>
          <a:xfrm>
            <a:off x="3456432" y="3840480"/>
            <a:ext cx="23957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3F7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D4E3F7"/>
                </a:solidFill>
                <a:latin typeface="Calibri"/>
                <a:ea typeface="Calibri"/>
                <a:cs typeface="Calibri"/>
                <a:sym typeface="Calibri"/>
              </a:rPr>
              <a:t>Vendor lock-in exposure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9" name="Google Shape;129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36976" y="4151376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5"/>
          <p:cNvSpPr/>
          <p:nvPr/>
        </p:nvSpPr>
        <p:spPr>
          <a:xfrm>
            <a:off x="3456432" y="4133088"/>
            <a:ext cx="23957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3F7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D4E3F7"/>
                </a:solidFill>
                <a:latin typeface="Calibri"/>
                <a:ea typeface="Calibri"/>
                <a:cs typeface="Calibri"/>
                <a:sym typeface="Calibri"/>
              </a:rPr>
              <a:t>Data leaves your perimeter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1" name="Google Shape;131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36976" y="4443984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5"/>
          <p:cNvSpPr/>
          <p:nvPr/>
        </p:nvSpPr>
        <p:spPr>
          <a:xfrm>
            <a:off x="3456432" y="4425696"/>
            <a:ext cx="23957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3F7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D4E3F7"/>
                </a:solidFill>
                <a:latin typeface="Calibri"/>
                <a:ea typeface="Calibri"/>
                <a:cs typeface="Calibri"/>
                <a:sym typeface="Calibri"/>
              </a:rPr>
              <a:t>Generic — not competitive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6035040" y="1060704"/>
            <a:ext cx="2816352" cy="3767328"/>
          </a:xfrm>
          <a:prstGeom prst="rect">
            <a:avLst/>
          </a:prstGeom>
          <a:solidFill>
            <a:srgbClr val="7B3D8A"/>
          </a:solidFill>
          <a:ln cap="flat" cmpd="sng" w="12700">
            <a:solidFill>
              <a:srgbClr val="7B3D8A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8100000" dist="50800">
              <a:srgbClr val="000000">
                <a:alpha val="2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"/>
          <p:cNvSpPr/>
          <p:nvPr/>
        </p:nvSpPr>
        <p:spPr>
          <a:xfrm>
            <a:off x="6035040" y="1060704"/>
            <a:ext cx="2816352" cy="658368"/>
          </a:xfrm>
          <a:prstGeom prst="rect">
            <a:avLst/>
          </a:prstGeom>
          <a:solidFill>
            <a:srgbClr val="6B2D7A"/>
          </a:solidFill>
          <a:ln cap="flat" cmpd="sng" w="12700">
            <a:solidFill>
              <a:srgbClr val="6B2D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5" name="Google Shape;135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99632" y="1152144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5"/>
          <p:cNvSpPr/>
          <p:nvPr/>
        </p:nvSpPr>
        <p:spPr>
          <a:xfrm>
            <a:off x="6656832" y="1133856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PARTNER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6144768" y="1463040"/>
            <a:ext cx="2606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3F7"/>
              </a:buClr>
              <a:buSzPts val="950"/>
              <a:buFont typeface="Calibri"/>
              <a:buNone/>
            </a:pPr>
            <a:r>
              <a:rPr i="1" lang="en-US" sz="950">
                <a:solidFill>
                  <a:srgbClr val="D4E3F7"/>
                </a:solidFill>
                <a:latin typeface="Calibri"/>
                <a:ea typeface="Calibri"/>
                <a:cs typeface="Calibri"/>
                <a:sym typeface="Calibri"/>
              </a:rPr>
              <a:t>Strategic AI Alliance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6144768" y="1783080"/>
            <a:ext cx="259689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PROS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9" name="Google Shape;13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44768" y="202996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5"/>
          <p:cNvSpPr/>
          <p:nvPr/>
        </p:nvSpPr>
        <p:spPr>
          <a:xfrm>
            <a:off x="6382512" y="2011680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Shared risk &amp; investment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1" name="Google Shape;14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44768" y="235000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5"/>
          <p:cNvSpPr/>
          <p:nvPr/>
        </p:nvSpPr>
        <p:spPr>
          <a:xfrm>
            <a:off x="6382512" y="2331720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Access to specialist IP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3" name="Google Shape;14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44768" y="267004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5"/>
          <p:cNvSpPr/>
          <p:nvPr/>
        </p:nvSpPr>
        <p:spPr>
          <a:xfrm>
            <a:off x="6382512" y="2651760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Faster than Build alone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5" name="Google Shape;14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44768" y="299008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5"/>
          <p:cNvSpPr/>
          <p:nvPr/>
        </p:nvSpPr>
        <p:spPr>
          <a:xfrm>
            <a:off x="6382512" y="2971800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Co-innovation potential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6144768" y="3346704"/>
            <a:ext cx="259689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070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E87070"/>
                </a:solidFill>
                <a:latin typeface="Calibri"/>
                <a:ea typeface="Calibri"/>
                <a:cs typeface="Calibri"/>
                <a:sym typeface="Calibri"/>
              </a:rPr>
              <a:t>CONS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8" name="Google Shape;148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44768" y="356616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5"/>
          <p:cNvSpPr/>
          <p:nvPr/>
        </p:nvSpPr>
        <p:spPr>
          <a:xfrm>
            <a:off x="6364224" y="3547872"/>
            <a:ext cx="23957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3F7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D4E3F7"/>
                </a:solidFill>
                <a:latin typeface="Calibri"/>
                <a:ea typeface="Calibri"/>
                <a:cs typeface="Calibri"/>
                <a:sym typeface="Calibri"/>
              </a:rPr>
              <a:t>Governance complexity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0" name="Google Shape;150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44768" y="3858768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5"/>
          <p:cNvSpPr/>
          <p:nvPr/>
        </p:nvSpPr>
        <p:spPr>
          <a:xfrm>
            <a:off x="6364224" y="3840480"/>
            <a:ext cx="23957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3F7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D4E3F7"/>
                </a:solidFill>
                <a:latin typeface="Calibri"/>
                <a:ea typeface="Calibri"/>
                <a:cs typeface="Calibri"/>
                <a:sym typeface="Calibri"/>
              </a:rPr>
              <a:t>Revenue &amp; IP sharing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2" name="Google Shape;152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44768" y="4151376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5"/>
          <p:cNvSpPr/>
          <p:nvPr/>
        </p:nvSpPr>
        <p:spPr>
          <a:xfrm>
            <a:off x="6364224" y="4133088"/>
            <a:ext cx="23957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3F7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D4E3F7"/>
                </a:solidFill>
                <a:latin typeface="Calibri"/>
                <a:ea typeface="Calibri"/>
                <a:cs typeface="Calibri"/>
                <a:sym typeface="Calibri"/>
              </a:rPr>
              <a:t>Cultural alignment needed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4" name="Google Shape;154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44768" y="4443984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5"/>
          <p:cNvSpPr/>
          <p:nvPr/>
        </p:nvSpPr>
        <p:spPr>
          <a:xfrm>
            <a:off x="6364224" y="4425696"/>
            <a:ext cx="23957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3F7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D4E3F7"/>
                </a:solidFill>
                <a:latin typeface="Calibri"/>
                <a:ea typeface="Calibri"/>
                <a:cs typeface="Calibri"/>
                <a:sym typeface="Calibri"/>
              </a:rPr>
              <a:t>Dependency on partner health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"/>
          <p:cNvSpPr/>
          <p:nvPr/>
        </p:nvSpPr>
        <p:spPr>
          <a:xfrm>
            <a:off x="0" y="4832604"/>
            <a:ext cx="9144000" cy="22860"/>
          </a:xfrm>
          <a:prstGeom prst="rect">
            <a:avLst/>
          </a:prstGeom>
          <a:solidFill>
            <a:srgbClr val="C9982A"/>
          </a:solidFill>
          <a:ln cap="flat" cmpd="sng" w="12700">
            <a:solidFill>
              <a:srgbClr val="C998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5">
            <a:hlinkClick r:id="rId8"/>
          </p:cNvPr>
          <p:cNvSpPr/>
          <p:nvPr/>
        </p:nvSpPr>
        <p:spPr>
          <a:xfrm>
            <a:off x="0" y="4869180"/>
            <a:ext cx="91440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Visit us at: </a:t>
            </a:r>
            <a:r>
              <a:rPr b="1" lang="en-US" sz="700" u="sng">
                <a:solidFill>
                  <a:srgbClr val="48CAE4"/>
                </a:solidFill>
                <a:latin typeface="Calibri"/>
                <a:ea typeface="Calibri"/>
                <a:cs typeface="Calibri"/>
                <a:sym typeface="Calibri"/>
              </a:rPr>
              <a:t>https://accredian.com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C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"/>
          <p:cNvSpPr/>
          <p:nvPr/>
        </p:nvSpPr>
        <p:spPr>
          <a:xfrm>
            <a:off x="0" y="960120"/>
            <a:ext cx="9144000" cy="41148"/>
          </a:xfrm>
          <a:prstGeom prst="rect">
            <a:avLst/>
          </a:prstGeom>
          <a:solidFill>
            <a:srgbClr val="C9982A"/>
          </a:solidFill>
          <a:ln cap="flat" cmpd="sng" w="12700">
            <a:solidFill>
              <a:srgbClr val="C998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8686800" y="91440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FA3C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FA3C0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411480" y="128016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</a:pPr>
            <a:r>
              <a:rPr b="1" lang="en-US" sz="2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Decision Matrix — When to Choose What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411480" y="548640"/>
            <a:ext cx="73152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3F7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D4E3F7"/>
                </a:solidFill>
                <a:latin typeface="Calibri"/>
                <a:ea typeface="Calibri"/>
                <a:cs typeface="Calibri"/>
                <a:sym typeface="Calibri"/>
              </a:rPr>
              <a:t>Match your organisational context to the right AI strategy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201168" y="1078992"/>
            <a:ext cx="2011680" cy="384048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6"/>
          <p:cNvSpPr/>
          <p:nvPr/>
        </p:nvSpPr>
        <p:spPr>
          <a:xfrm>
            <a:off x="274320" y="1097280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Decision Factor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2249424" y="1078992"/>
            <a:ext cx="2240280" cy="384048"/>
          </a:xfrm>
          <a:prstGeom prst="rect">
            <a:avLst/>
          </a:prstGeom>
          <a:solidFill>
            <a:srgbClr val="1A4A7A"/>
          </a:solidFill>
          <a:ln cap="flat" cmpd="sng" w="12700">
            <a:solidFill>
              <a:srgbClr val="1A4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"/>
          <p:cNvSpPr/>
          <p:nvPr/>
        </p:nvSpPr>
        <p:spPr>
          <a:xfrm>
            <a:off x="2322576" y="1097280"/>
            <a:ext cx="2148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BUILD ⚙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4526280" y="1078992"/>
            <a:ext cx="2240280" cy="384048"/>
          </a:xfrm>
          <a:prstGeom prst="rect">
            <a:avLst/>
          </a:prstGeom>
          <a:solidFill>
            <a:srgbClr val="1A6B4A"/>
          </a:solidFill>
          <a:ln cap="flat" cmpd="sng" w="12700">
            <a:solidFill>
              <a:srgbClr val="1A6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"/>
          <p:cNvSpPr/>
          <p:nvPr/>
        </p:nvSpPr>
        <p:spPr>
          <a:xfrm>
            <a:off x="4599432" y="1097280"/>
            <a:ext cx="2148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BUY 🛒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6803136" y="1078992"/>
            <a:ext cx="2240280" cy="384048"/>
          </a:xfrm>
          <a:prstGeom prst="rect">
            <a:avLst/>
          </a:prstGeom>
          <a:solidFill>
            <a:srgbClr val="6B2D7A"/>
          </a:solidFill>
          <a:ln cap="flat" cmpd="sng" w="12700">
            <a:solidFill>
              <a:srgbClr val="6B2D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6"/>
          <p:cNvSpPr/>
          <p:nvPr/>
        </p:nvSpPr>
        <p:spPr>
          <a:xfrm>
            <a:off x="6876288" y="1097280"/>
            <a:ext cx="2148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PARTNER 🤝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201168" y="1481328"/>
            <a:ext cx="2011680" cy="384048"/>
          </a:xfrm>
          <a:prstGeom prst="rect">
            <a:avLst/>
          </a:prstGeom>
          <a:solidFill>
            <a:srgbClr val="1E3160"/>
          </a:solidFill>
          <a:ln cap="flat" cmpd="sng" w="1270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"/>
          <p:cNvSpPr/>
          <p:nvPr/>
        </p:nvSpPr>
        <p:spPr>
          <a:xfrm>
            <a:off x="292608" y="1499616"/>
            <a:ext cx="18836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3F7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D4E3F7"/>
                </a:solidFill>
                <a:latin typeface="Calibri"/>
                <a:ea typeface="Calibri"/>
                <a:cs typeface="Calibri"/>
                <a:sym typeface="Calibri"/>
              </a:rPr>
              <a:t>Time Horizon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2249424" y="1481328"/>
            <a:ext cx="2240280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6"/>
          <p:cNvSpPr/>
          <p:nvPr/>
        </p:nvSpPr>
        <p:spPr>
          <a:xfrm>
            <a:off x="2340864" y="1499616"/>
            <a:ext cx="21122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3+ years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4526280" y="1481328"/>
            <a:ext cx="2240280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6"/>
          <p:cNvSpPr/>
          <p:nvPr/>
        </p:nvSpPr>
        <p:spPr>
          <a:xfrm>
            <a:off x="4617720" y="1499616"/>
            <a:ext cx="21122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Immediate (weeks)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6803136" y="1481328"/>
            <a:ext cx="2240280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6"/>
          <p:cNvSpPr/>
          <p:nvPr/>
        </p:nvSpPr>
        <p:spPr>
          <a:xfrm>
            <a:off x="6894576" y="1499616"/>
            <a:ext cx="21122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6–18 months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201168" y="1865376"/>
            <a:ext cx="2011680" cy="384048"/>
          </a:xfrm>
          <a:prstGeom prst="rect">
            <a:avLst/>
          </a:prstGeom>
          <a:solidFill>
            <a:srgbClr val="1E3160"/>
          </a:solidFill>
          <a:ln cap="flat" cmpd="sng" w="1270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6"/>
          <p:cNvSpPr/>
          <p:nvPr/>
        </p:nvSpPr>
        <p:spPr>
          <a:xfrm>
            <a:off x="292608" y="1883664"/>
            <a:ext cx="18836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3F7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D4E3F7"/>
                </a:solidFill>
                <a:latin typeface="Calibri"/>
                <a:ea typeface="Calibri"/>
                <a:cs typeface="Calibri"/>
                <a:sym typeface="Calibri"/>
              </a:rPr>
              <a:t>Budget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2249424" y="1865376"/>
            <a:ext cx="2240280" cy="384048"/>
          </a:xfrm>
          <a:prstGeom prst="rect">
            <a:avLst/>
          </a:prstGeom>
          <a:solidFill>
            <a:srgbClr val="EAF0FC"/>
          </a:solidFill>
          <a:ln cap="flat" cmpd="sng" w="1270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6"/>
          <p:cNvSpPr/>
          <p:nvPr/>
        </p:nvSpPr>
        <p:spPr>
          <a:xfrm>
            <a:off x="2340864" y="1883664"/>
            <a:ext cx="21122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High CapEx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4526280" y="1865376"/>
            <a:ext cx="2240280" cy="384048"/>
          </a:xfrm>
          <a:prstGeom prst="rect">
            <a:avLst/>
          </a:prstGeom>
          <a:solidFill>
            <a:srgbClr val="EAF0FC"/>
          </a:solidFill>
          <a:ln cap="flat" cmpd="sng" w="1270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6"/>
          <p:cNvSpPr/>
          <p:nvPr/>
        </p:nvSpPr>
        <p:spPr>
          <a:xfrm>
            <a:off x="4617720" y="1883664"/>
            <a:ext cx="21122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Predictable OpEx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6803136" y="1865376"/>
            <a:ext cx="2240280" cy="384048"/>
          </a:xfrm>
          <a:prstGeom prst="rect">
            <a:avLst/>
          </a:prstGeom>
          <a:solidFill>
            <a:srgbClr val="EAF0FC"/>
          </a:solidFill>
          <a:ln cap="flat" cmpd="sng" w="1270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6"/>
          <p:cNvSpPr/>
          <p:nvPr/>
        </p:nvSpPr>
        <p:spPr>
          <a:xfrm>
            <a:off x="6894576" y="1883664"/>
            <a:ext cx="21122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Shared investment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201168" y="2249424"/>
            <a:ext cx="2011680" cy="384048"/>
          </a:xfrm>
          <a:prstGeom prst="rect">
            <a:avLst/>
          </a:prstGeom>
          <a:solidFill>
            <a:srgbClr val="1E3160"/>
          </a:solidFill>
          <a:ln cap="flat" cmpd="sng" w="1270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6"/>
          <p:cNvSpPr/>
          <p:nvPr/>
        </p:nvSpPr>
        <p:spPr>
          <a:xfrm>
            <a:off x="292608" y="2267712"/>
            <a:ext cx="18836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3F7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D4E3F7"/>
                </a:solidFill>
                <a:latin typeface="Calibri"/>
                <a:ea typeface="Calibri"/>
                <a:cs typeface="Calibri"/>
                <a:sym typeface="Calibri"/>
              </a:rPr>
              <a:t>Data Sensitivity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2249424" y="2249424"/>
            <a:ext cx="2240280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6"/>
          <p:cNvSpPr/>
          <p:nvPr/>
        </p:nvSpPr>
        <p:spPr>
          <a:xfrm>
            <a:off x="2340864" y="2267712"/>
            <a:ext cx="21122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Mission-critical IP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4526280" y="2249424"/>
            <a:ext cx="2240280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6"/>
          <p:cNvSpPr/>
          <p:nvPr/>
        </p:nvSpPr>
        <p:spPr>
          <a:xfrm>
            <a:off x="4617720" y="2267712"/>
            <a:ext cx="21122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Standard / Public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6803136" y="2249424"/>
            <a:ext cx="2240280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6"/>
          <p:cNvSpPr/>
          <p:nvPr/>
        </p:nvSpPr>
        <p:spPr>
          <a:xfrm>
            <a:off x="6894576" y="2267712"/>
            <a:ext cx="21122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Controlled sharing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201168" y="2633472"/>
            <a:ext cx="2011680" cy="384048"/>
          </a:xfrm>
          <a:prstGeom prst="rect">
            <a:avLst/>
          </a:prstGeom>
          <a:solidFill>
            <a:srgbClr val="1E3160"/>
          </a:solidFill>
          <a:ln cap="flat" cmpd="sng" w="1270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6"/>
          <p:cNvSpPr/>
          <p:nvPr/>
        </p:nvSpPr>
        <p:spPr>
          <a:xfrm>
            <a:off x="292608" y="2651760"/>
            <a:ext cx="18836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3F7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D4E3F7"/>
                </a:solidFill>
                <a:latin typeface="Calibri"/>
                <a:ea typeface="Calibri"/>
                <a:cs typeface="Calibri"/>
                <a:sym typeface="Calibri"/>
              </a:rPr>
              <a:t>AI Talent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2249424" y="2633472"/>
            <a:ext cx="2240280" cy="384048"/>
          </a:xfrm>
          <a:prstGeom prst="rect">
            <a:avLst/>
          </a:prstGeom>
          <a:solidFill>
            <a:srgbClr val="EAF0FC"/>
          </a:solidFill>
          <a:ln cap="flat" cmpd="sng" w="1270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6"/>
          <p:cNvSpPr/>
          <p:nvPr/>
        </p:nvSpPr>
        <p:spPr>
          <a:xfrm>
            <a:off x="2340864" y="2651760"/>
            <a:ext cx="21122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Large internal team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4526280" y="2633472"/>
            <a:ext cx="2240280" cy="384048"/>
          </a:xfrm>
          <a:prstGeom prst="rect">
            <a:avLst/>
          </a:prstGeom>
          <a:solidFill>
            <a:srgbClr val="EAF0FC"/>
          </a:solidFill>
          <a:ln cap="flat" cmpd="sng" w="1270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6"/>
          <p:cNvSpPr/>
          <p:nvPr/>
        </p:nvSpPr>
        <p:spPr>
          <a:xfrm>
            <a:off x="4617720" y="2651760"/>
            <a:ext cx="21122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No AI team needed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6803136" y="2633472"/>
            <a:ext cx="2240280" cy="384048"/>
          </a:xfrm>
          <a:prstGeom prst="rect">
            <a:avLst/>
          </a:prstGeom>
          <a:solidFill>
            <a:srgbClr val="EAF0FC"/>
          </a:solidFill>
          <a:ln cap="flat" cmpd="sng" w="1270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6"/>
          <p:cNvSpPr/>
          <p:nvPr/>
        </p:nvSpPr>
        <p:spPr>
          <a:xfrm>
            <a:off x="6894576" y="2651760"/>
            <a:ext cx="21122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Hybrid capability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201168" y="3017520"/>
            <a:ext cx="2011680" cy="384048"/>
          </a:xfrm>
          <a:prstGeom prst="rect">
            <a:avLst/>
          </a:prstGeom>
          <a:solidFill>
            <a:srgbClr val="1E3160"/>
          </a:solidFill>
          <a:ln cap="flat" cmpd="sng" w="1270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6"/>
          <p:cNvSpPr/>
          <p:nvPr/>
        </p:nvSpPr>
        <p:spPr>
          <a:xfrm>
            <a:off x="292608" y="3035808"/>
            <a:ext cx="18836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3F7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D4E3F7"/>
                </a:solidFill>
                <a:latin typeface="Calibri"/>
                <a:ea typeface="Calibri"/>
                <a:cs typeface="Calibri"/>
                <a:sym typeface="Calibri"/>
              </a:rPr>
              <a:t>Differentiation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2249424" y="3017520"/>
            <a:ext cx="2240280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6"/>
          <p:cNvSpPr/>
          <p:nvPr/>
        </p:nvSpPr>
        <p:spPr>
          <a:xfrm>
            <a:off x="2340864" y="3035808"/>
            <a:ext cx="21122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Core competitive use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4526280" y="3017520"/>
            <a:ext cx="2240280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6"/>
          <p:cNvSpPr/>
          <p:nvPr/>
        </p:nvSpPr>
        <p:spPr>
          <a:xfrm>
            <a:off x="4617720" y="3035808"/>
            <a:ext cx="21122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Commodity function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6803136" y="3017520"/>
            <a:ext cx="2240280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6"/>
          <p:cNvSpPr/>
          <p:nvPr/>
        </p:nvSpPr>
        <p:spPr>
          <a:xfrm>
            <a:off x="6894576" y="3035808"/>
            <a:ext cx="21122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Specialist domain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201168" y="3401568"/>
            <a:ext cx="2011680" cy="384048"/>
          </a:xfrm>
          <a:prstGeom prst="rect">
            <a:avLst/>
          </a:prstGeom>
          <a:solidFill>
            <a:srgbClr val="1E3160"/>
          </a:solidFill>
          <a:ln cap="flat" cmpd="sng" w="1270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6"/>
          <p:cNvSpPr/>
          <p:nvPr/>
        </p:nvSpPr>
        <p:spPr>
          <a:xfrm>
            <a:off x="292608" y="3419856"/>
            <a:ext cx="18836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3F7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D4E3F7"/>
                </a:solidFill>
                <a:latin typeface="Calibri"/>
                <a:ea typeface="Calibri"/>
                <a:cs typeface="Calibri"/>
                <a:sym typeface="Calibri"/>
              </a:rPr>
              <a:t>Risk Appetite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2249424" y="3401568"/>
            <a:ext cx="2240280" cy="384048"/>
          </a:xfrm>
          <a:prstGeom prst="rect">
            <a:avLst/>
          </a:prstGeom>
          <a:solidFill>
            <a:srgbClr val="EAF0FC"/>
          </a:solidFill>
          <a:ln cap="flat" cmpd="sng" w="1270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6"/>
          <p:cNvSpPr/>
          <p:nvPr/>
        </p:nvSpPr>
        <p:spPr>
          <a:xfrm>
            <a:off x="2340864" y="3419856"/>
            <a:ext cx="21122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High — long payoff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4526280" y="3401568"/>
            <a:ext cx="2240280" cy="384048"/>
          </a:xfrm>
          <a:prstGeom prst="rect">
            <a:avLst/>
          </a:prstGeom>
          <a:solidFill>
            <a:srgbClr val="EAF0FC"/>
          </a:solidFill>
          <a:ln cap="flat" cmpd="sng" w="1270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6"/>
          <p:cNvSpPr/>
          <p:nvPr/>
        </p:nvSpPr>
        <p:spPr>
          <a:xfrm>
            <a:off x="4617720" y="3419856"/>
            <a:ext cx="21122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Low — proven vendor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6803136" y="3401568"/>
            <a:ext cx="2240280" cy="384048"/>
          </a:xfrm>
          <a:prstGeom prst="rect">
            <a:avLst/>
          </a:prstGeom>
          <a:solidFill>
            <a:srgbClr val="EAF0FC"/>
          </a:solidFill>
          <a:ln cap="flat" cmpd="sng" w="1270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6"/>
          <p:cNvSpPr/>
          <p:nvPr/>
        </p:nvSpPr>
        <p:spPr>
          <a:xfrm>
            <a:off x="6894576" y="3419856"/>
            <a:ext cx="21122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Medium — shared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6"/>
          <p:cNvSpPr/>
          <p:nvPr/>
        </p:nvSpPr>
        <p:spPr>
          <a:xfrm>
            <a:off x="201168" y="3785616"/>
            <a:ext cx="2011680" cy="384048"/>
          </a:xfrm>
          <a:prstGeom prst="rect">
            <a:avLst/>
          </a:prstGeom>
          <a:solidFill>
            <a:srgbClr val="1E3160"/>
          </a:solidFill>
          <a:ln cap="flat" cmpd="sng" w="1270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6"/>
          <p:cNvSpPr/>
          <p:nvPr/>
        </p:nvSpPr>
        <p:spPr>
          <a:xfrm>
            <a:off x="292608" y="3803904"/>
            <a:ext cx="18836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3F7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D4E3F7"/>
                </a:solidFill>
                <a:latin typeface="Calibri"/>
                <a:ea typeface="Calibri"/>
                <a:cs typeface="Calibri"/>
                <a:sym typeface="Calibri"/>
              </a:rPr>
              <a:t>Regulatory Context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6"/>
          <p:cNvSpPr/>
          <p:nvPr/>
        </p:nvSpPr>
        <p:spPr>
          <a:xfrm>
            <a:off x="2249424" y="3785616"/>
            <a:ext cx="2240280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6"/>
          <p:cNvSpPr/>
          <p:nvPr/>
        </p:nvSpPr>
        <p:spPr>
          <a:xfrm>
            <a:off x="2340864" y="3803904"/>
            <a:ext cx="21122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Full control needed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6"/>
          <p:cNvSpPr/>
          <p:nvPr/>
        </p:nvSpPr>
        <p:spPr>
          <a:xfrm>
            <a:off x="4526280" y="3785616"/>
            <a:ext cx="2240280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6"/>
          <p:cNvSpPr/>
          <p:nvPr/>
        </p:nvSpPr>
        <p:spPr>
          <a:xfrm>
            <a:off x="4617720" y="3803904"/>
            <a:ext cx="21122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Vendor compliant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6"/>
          <p:cNvSpPr/>
          <p:nvPr/>
        </p:nvSpPr>
        <p:spPr>
          <a:xfrm>
            <a:off x="6803136" y="3785616"/>
            <a:ext cx="2240280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6"/>
          <p:cNvSpPr/>
          <p:nvPr/>
        </p:nvSpPr>
        <p:spPr>
          <a:xfrm>
            <a:off x="6894576" y="3803904"/>
            <a:ext cx="21122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Joint governance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6"/>
          <p:cNvSpPr/>
          <p:nvPr/>
        </p:nvSpPr>
        <p:spPr>
          <a:xfrm>
            <a:off x="201168" y="4544060"/>
            <a:ext cx="8778240" cy="237744"/>
          </a:xfrm>
          <a:prstGeom prst="rect">
            <a:avLst/>
          </a:prstGeom>
          <a:solidFill>
            <a:srgbClr val="152347"/>
          </a:solidFill>
          <a:ln cap="flat" cmpd="sng" w="12700">
            <a:solidFill>
              <a:srgbClr val="C998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4" name="Google Shape;23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2608" y="4548777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6"/>
          <p:cNvSpPr/>
          <p:nvPr/>
        </p:nvSpPr>
        <p:spPr>
          <a:xfrm>
            <a:off x="548640" y="4569097"/>
            <a:ext cx="8138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3F7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D4E3F7"/>
                </a:solidFill>
                <a:latin typeface="Calibri"/>
                <a:ea typeface="Calibri"/>
                <a:cs typeface="Calibri"/>
                <a:sym typeface="Calibri"/>
              </a:rPr>
              <a:t>Most mature enterprises use a portfolio approach — Build for core IP, Buy for commodity, Partner for frontier capabilities.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6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6"/>
          <p:cNvSpPr/>
          <p:nvPr/>
        </p:nvSpPr>
        <p:spPr>
          <a:xfrm>
            <a:off x="0" y="4832604"/>
            <a:ext cx="9144000" cy="22860"/>
          </a:xfrm>
          <a:prstGeom prst="rect">
            <a:avLst/>
          </a:prstGeom>
          <a:solidFill>
            <a:srgbClr val="C9982A"/>
          </a:solidFill>
          <a:ln cap="flat" cmpd="sng" w="12700">
            <a:solidFill>
              <a:srgbClr val="C998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6">
            <a:hlinkClick r:id="rId4"/>
          </p:cNvPr>
          <p:cNvSpPr/>
          <p:nvPr/>
        </p:nvSpPr>
        <p:spPr>
          <a:xfrm>
            <a:off x="0" y="4869180"/>
            <a:ext cx="91440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Visit us at: </a:t>
            </a:r>
            <a:r>
              <a:rPr b="1" lang="en-US" sz="700" u="sng">
                <a:solidFill>
                  <a:srgbClr val="48CAE4"/>
                </a:solidFill>
                <a:latin typeface="Calibri"/>
                <a:ea typeface="Calibri"/>
                <a:cs typeface="Calibri"/>
                <a:sym typeface="Calibri"/>
              </a:rPr>
              <a:t>https://accredian.com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3E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7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160"/>
          </a:solidFill>
          <a:ln cap="flat" cmpd="sng" w="12700">
            <a:solidFill>
              <a:srgbClr val="1E31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7"/>
          <p:cNvSpPr/>
          <p:nvPr/>
        </p:nvSpPr>
        <p:spPr>
          <a:xfrm>
            <a:off x="0" y="960120"/>
            <a:ext cx="9144000" cy="36576"/>
          </a:xfrm>
          <a:prstGeom prst="rect">
            <a:avLst/>
          </a:prstGeom>
          <a:solidFill>
            <a:srgbClr val="C9982A"/>
          </a:solidFill>
          <a:ln cap="flat" cmpd="sng" w="12700">
            <a:solidFill>
              <a:srgbClr val="C998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7"/>
          <p:cNvSpPr/>
          <p:nvPr/>
        </p:nvSpPr>
        <p:spPr>
          <a:xfrm>
            <a:off x="8686800" y="91440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FA3C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FA3C0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411480" y="128016"/>
            <a:ext cx="7315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Georgia"/>
              <a:buNone/>
            </a:pPr>
            <a:r>
              <a:rPr b="1" lang="en-US" sz="2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Real-World Patterns &amp; Your Next Steps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411480" y="548640"/>
            <a:ext cx="82296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3F7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D4E3F7"/>
                </a:solidFill>
                <a:latin typeface="Calibri"/>
                <a:ea typeface="Calibri"/>
                <a:cs typeface="Calibri"/>
                <a:sym typeface="Calibri"/>
              </a:rPr>
              <a:t>How leading enterprises deploy AI strategy — and what you should do this quarter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4526280" y="1042416"/>
            <a:ext cx="36576" cy="3822192"/>
          </a:xfrm>
          <a:prstGeom prst="rect">
            <a:avLst/>
          </a:prstGeom>
          <a:solidFill>
            <a:srgbClr val="C9982A"/>
          </a:solidFill>
          <a:ln cap="flat" cmpd="sng" w="12700">
            <a:solidFill>
              <a:srgbClr val="C998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7"/>
          <p:cNvSpPr/>
          <p:nvPr/>
        </p:nvSpPr>
        <p:spPr>
          <a:xfrm>
            <a:off x="256032" y="1078992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982A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C9982A"/>
                </a:solidFill>
                <a:latin typeface="Calibri"/>
                <a:ea typeface="Calibri"/>
                <a:cs typeface="Calibri"/>
                <a:sym typeface="Calibri"/>
              </a:rPr>
              <a:t>Industry Patterns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7"/>
          <p:cNvSpPr/>
          <p:nvPr/>
        </p:nvSpPr>
        <p:spPr>
          <a:xfrm>
            <a:off x="256032" y="1463040"/>
            <a:ext cx="4160520" cy="969264"/>
          </a:xfrm>
          <a:prstGeom prst="rect">
            <a:avLst/>
          </a:prstGeom>
          <a:solidFill>
            <a:srgbClr val="152347"/>
          </a:solidFill>
          <a:ln cap="flat" cmpd="sng" w="12700">
            <a:solidFill>
              <a:srgbClr val="1A4A7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7"/>
          <p:cNvSpPr/>
          <p:nvPr/>
        </p:nvSpPr>
        <p:spPr>
          <a:xfrm>
            <a:off x="256032" y="1463040"/>
            <a:ext cx="640080" cy="969264"/>
          </a:xfrm>
          <a:prstGeom prst="rect">
            <a:avLst/>
          </a:prstGeom>
          <a:solidFill>
            <a:srgbClr val="1A4A7A"/>
          </a:solidFill>
          <a:ln cap="flat" cmpd="sng" w="12700">
            <a:solidFill>
              <a:srgbClr val="1A4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3" name="Google Shape;25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1554480"/>
            <a:ext cx="420624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7"/>
          <p:cNvSpPr/>
          <p:nvPr/>
        </p:nvSpPr>
        <p:spPr>
          <a:xfrm>
            <a:off x="292608" y="2011680"/>
            <a:ext cx="594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BUILD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7"/>
          <p:cNvSpPr/>
          <p:nvPr/>
        </p:nvSpPr>
        <p:spPr>
          <a:xfrm>
            <a:off x="969264" y="1554480"/>
            <a:ext cx="3337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Google DeepMind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7"/>
          <p:cNvSpPr/>
          <p:nvPr/>
        </p:nvSpPr>
        <p:spPr>
          <a:xfrm>
            <a:off x="969264" y="1847088"/>
            <a:ext cx="33375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3F7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D4E3F7"/>
                </a:solidFill>
                <a:latin typeface="Calibri"/>
                <a:ea typeface="Calibri"/>
                <a:cs typeface="Calibri"/>
                <a:sym typeface="Calibri"/>
              </a:rPr>
              <a:t>Built proprietary AlphaFold for protein structure — irreplaceable competitive moat in life sciences.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7"/>
          <p:cNvSpPr/>
          <p:nvPr/>
        </p:nvSpPr>
        <p:spPr>
          <a:xfrm>
            <a:off x="256032" y="2560320"/>
            <a:ext cx="4160520" cy="969264"/>
          </a:xfrm>
          <a:prstGeom prst="rect">
            <a:avLst/>
          </a:prstGeom>
          <a:solidFill>
            <a:srgbClr val="152347"/>
          </a:solidFill>
          <a:ln cap="flat" cmpd="sng" w="12700">
            <a:solidFill>
              <a:srgbClr val="1A6B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7"/>
          <p:cNvSpPr/>
          <p:nvPr/>
        </p:nvSpPr>
        <p:spPr>
          <a:xfrm>
            <a:off x="256032" y="2560320"/>
            <a:ext cx="640080" cy="969264"/>
          </a:xfrm>
          <a:prstGeom prst="rect">
            <a:avLst/>
          </a:prstGeom>
          <a:solidFill>
            <a:srgbClr val="1A6B4A"/>
          </a:solidFill>
          <a:ln cap="flat" cmpd="sng" w="12700">
            <a:solidFill>
              <a:srgbClr val="1A6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9" name="Google Shape;25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0040" y="2651760"/>
            <a:ext cx="420624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7"/>
          <p:cNvSpPr/>
          <p:nvPr/>
        </p:nvSpPr>
        <p:spPr>
          <a:xfrm>
            <a:off x="292608" y="3108960"/>
            <a:ext cx="594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BUY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7"/>
          <p:cNvSpPr/>
          <p:nvPr/>
        </p:nvSpPr>
        <p:spPr>
          <a:xfrm>
            <a:off x="969264" y="2651760"/>
            <a:ext cx="3337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General Motors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7"/>
          <p:cNvSpPr/>
          <p:nvPr/>
        </p:nvSpPr>
        <p:spPr>
          <a:xfrm>
            <a:off x="969264" y="2944368"/>
            <a:ext cx="33375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3F7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D4E3F7"/>
                </a:solidFill>
                <a:latin typeface="Calibri"/>
                <a:ea typeface="Calibri"/>
                <a:cs typeface="Calibri"/>
                <a:sym typeface="Calibri"/>
              </a:rPr>
              <a:t>Adopted Microsoft Azure OpenAI for customer service automation — 6-week deployment vs. 2-year build.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7"/>
          <p:cNvSpPr/>
          <p:nvPr/>
        </p:nvSpPr>
        <p:spPr>
          <a:xfrm>
            <a:off x="256032" y="3657600"/>
            <a:ext cx="4160520" cy="969264"/>
          </a:xfrm>
          <a:prstGeom prst="rect">
            <a:avLst/>
          </a:prstGeom>
          <a:solidFill>
            <a:srgbClr val="152347"/>
          </a:solidFill>
          <a:ln cap="flat" cmpd="sng" w="12700">
            <a:solidFill>
              <a:srgbClr val="6B2D7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7"/>
          <p:cNvSpPr/>
          <p:nvPr/>
        </p:nvSpPr>
        <p:spPr>
          <a:xfrm>
            <a:off x="256032" y="3657600"/>
            <a:ext cx="640080" cy="969264"/>
          </a:xfrm>
          <a:prstGeom prst="rect">
            <a:avLst/>
          </a:prstGeom>
          <a:solidFill>
            <a:srgbClr val="6B2D7A"/>
          </a:solidFill>
          <a:ln cap="flat" cmpd="sng" w="12700">
            <a:solidFill>
              <a:srgbClr val="6B2D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5" name="Google Shape;265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0040" y="3749040"/>
            <a:ext cx="420624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7"/>
          <p:cNvSpPr/>
          <p:nvPr/>
        </p:nvSpPr>
        <p:spPr>
          <a:xfrm>
            <a:off x="292608" y="4206240"/>
            <a:ext cx="594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PARTNER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7"/>
          <p:cNvSpPr/>
          <p:nvPr/>
        </p:nvSpPr>
        <p:spPr>
          <a:xfrm>
            <a:off x="969264" y="3749040"/>
            <a:ext cx="3337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Pfizer + BioNTech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7"/>
          <p:cNvSpPr/>
          <p:nvPr/>
        </p:nvSpPr>
        <p:spPr>
          <a:xfrm>
            <a:off x="969264" y="4041648"/>
            <a:ext cx="33375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3F7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D4E3F7"/>
                </a:solidFill>
                <a:latin typeface="Calibri"/>
                <a:ea typeface="Calibri"/>
                <a:cs typeface="Calibri"/>
                <a:sym typeface="Calibri"/>
              </a:rPr>
              <a:t>AI partnership to co-develop drug candidate screening models — shared IP with ring-fenced data governance.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7"/>
          <p:cNvSpPr/>
          <p:nvPr/>
        </p:nvSpPr>
        <p:spPr>
          <a:xfrm>
            <a:off x="4663440" y="1078992"/>
            <a:ext cx="4206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982A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C9982A"/>
                </a:solidFill>
                <a:latin typeface="Calibri"/>
                <a:ea typeface="Calibri"/>
                <a:cs typeface="Calibri"/>
                <a:sym typeface="Calibri"/>
              </a:rPr>
              <a:t>90-Day Action Plan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7"/>
          <p:cNvSpPr/>
          <p:nvPr/>
        </p:nvSpPr>
        <p:spPr>
          <a:xfrm>
            <a:off x="4663440" y="1463040"/>
            <a:ext cx="4206240" cy="969264"/>
          </a:xfrm>
          <a:prstGeom prst="rect">
            <a:avLst/>
          </a:prstGeom>
          <a:solidFill>
            <a:srgbClr val="152347"/>
          </a:solidFill>
          <a:ln cap="flat" cmpd="sng" w="12700">
            <a:solidFill>
              <a:srgbClr val="1A4A7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7"/>
          <p:cNvSpPr/>
          <p:nvPr/>
        </p:nvSpPr>
        <p:spPr>
          <a:xfrm>
            <a:off x="4663440" y="1463040"/>
            <a:ext cx="640080" cy="969264"/>
          </a:xfrm>
          <a:prstGeom prst="rect">
            <a:avLst/>
          </a:prstGeom>
          <a:solidFill>
            <a:srgbClr val="1A4A7A"/>
          </a:solidFill>
          <a:ln cap="flat" cmpd="sng" w="12700">
            <a:solidFill>
              <a:srgbClr val="1A4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7"/>
          <p:cNvSpPr/>
          <p:nvPr/>
        </p:nvSpPr>
        <p:spPr>
          <a:xfrm>
            <a:off x="4681728" y="1719072"/>
            <a:ext cx="60350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eorgia"/>
              <a:buNone/>
            </a:pPr>
            <a:r>
              <a:rPr b="1" lang="en-US" sz="2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7"/>
          <p:cNvSpPr/>
          <p:nvPr/>
        </p:nvSpPr>
        <p:spPr>
          <a:xfrm>
            <a:off x="5394960" y="155448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Days 1–30: Audit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7"/>
          <p:cNvSpPr/>
          <p:nvPr/>
        </p:nvSpPr>
        <p:spPr>
          <a:xfrm>
            <a:off x="5394960" y="1847088"/>
            <a:ext cx="33832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3F7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D4E3F7"/>
                </a:solidFill>
                <a:latin typeface="Calibri"/>
                <a:ea typeface="Calibri"/>
                <a:cs typeface="Calibri"/>
                <a:sym typeface="Calibri"/>
              </a:rPr>
              <a:t>Map all current &amp; planned AI initiatives. Classify each by strategic importance and data sensitivity.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7"/>
          <p:cNvSpPr/>
          <p:nvPr/>
        </p:nvSpPr>
        <p:spPr>
          <a:xfrm>
            <a:off x="4663440" y="2560320"/>
            <a:ext cx="4206240" cy="969264"/>
          </a:xfrm>
          <a:prstGeom prst="rect">
            <a:avLst/>
          </a:prstGeom>
          <a:solidFill>
            <a:srgbClr val="152347"/>
          </a:solidFill>
          <a:ln cap="flat" cmpd="sng" w="12700">
            <a:solidFill>
              <a:srgbClr val="1A6B4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7"/>
          <p:cNvSpPr/>
          <p:nvPr/>
        </p:nvSpPr>
        <p:spPr>
          <a:xfrm>
            <a:off x="4663440" y="2560320"/>
            <a:ext cx="640080" cy="969264"/>
          </a:xfrm>
          <a:prstGeom prst="rect">
            <a:avLst/>
          </a:prstGeom>
          <a:solidFill>
            <a:srgbClr val="1A6B4A"/>
          </a:solidFill>
          <a:ln cap="flat" cmpd="sng" w="12700">
            <a:solidFill>
              <a:srgbClr val="1A6B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7"/>
          <p:cNvSpPr/>
          <p:nvPr/>
        </p:nvSpPr>
        <p:spPr>
          <a:xfrm>
            <a:off x="4681728" y="2816352"/>
            <a:ext cx="60350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eorgia"/>
              <a:buNone/>
            </a:pPr>
            <a:r>
              <a:rPr b="1" lang="en-US" sz="2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7"/>
          <p:cNvSpPr/>
          <p:nvPr/>
        </p:nvSpPr>
        <p:spPr>
          <a:xfrm>
            <a:off x="5394960" y="265176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Days 31–60: Evaluate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7"/>
          <p:cNvSpPr/>
          <p:nvPr/>
        </p:nvSpPr>
        <p:spPr>
          <a:xfrm>
            <a:off x="5394960" y="2944368"/>
            <a:ext cx="33832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3F7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D4E3F7"/>
                </a:solidFill>
                <a:latin typeface="Calibri"/>
                <a:ea typeface="Calibri"/>
                <a:cs typeface="Calibri"/>
                <a:sym typeface="Calibri"/>
              </a:rPr>
              <a:t>Score each initiative against the Decision Matrix. Identify quick Build/Buy/Partner wins.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7"/>
          <p:cNvSpPr/>
          <p:nvPr/>
        </p:nvSpPr>
        <p:spPr>
          <a:xfrm>
            <a:off x="4663440" y="3657600"/>
            <a:ext cx="4206240" cy="969264"/>
          </a:xfrm>
          <a:prstGeom prst="rect">
            <a:avLst/>
          </a:prstGeom>
          <a:solidFill>
            <a:srgbClr val="152347"/>
          </a:solidFill>
          <a:ln cap="flat" cmpd="sng" w="12700">
            <a:solidFill>
              <a:srgbClr val="6B2D7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7"/>
          <p:cNvSpPr/>
          <p:nvPr/>
        </p:nvSpPr>
        <p:spPr>
          <a:xfrm>
            <a:off x="4663440" y="3657600"/>
            <a:ext cx="640080" cy="969264"/>
          </a:xfrm>
          <a:prstGeom prst="rect">
            <a:avLst/>
          </a:prstGeom>
          <a:solidFill>
            <a:srgbClr val="6B2D7A"/>
          </a:solidFill>
          <a:ln cap="flat" cmpd="sng" w="12700">
            <a:solidFill>
              <a:srgbClr val="6B2D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7"/>
          <p:cNvSpPr/>
          <p:nvPr/>
        </p:nvSpPr>
        <p:spPr>
          <a:xfrm>
            <a:off x="4681728" y="3913632"/>
            <a:ext cx="60350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eorgia"/>
              <a:buNone/>
            </a:pPr>
            <a:r>
              <a:rPr b="1" lang="en-US" sz="2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7"/>
          <p:cNvSpPr/>
          <p:nvPr/>
        </p:nvSpPr>
        <p:spPr>
          <a:xfrm>
            <a:off x="5394960" y="374904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Days 61–90: Decide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7"/>
          <p:cNvSpPr/>
          <p:nvPr/>
        </p:nvSpPr>
        <p:spPr>
          <a:xfrm>
            <a:off x="5394960" y="4041648"/>
            <a:ext cx="33832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3F7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D4E3F7"/>
                </a:solidFill>
                <a:latin typeface="Calibri"/>
                <a:ea typeface="Calibri"/>
                <a:cs typeface="Calibri"/>
                <a:sym typeface="Calibri"/>
              </a:rPr>
              <a:t>Present board-level AI strategy. Allocate budget, assign ownership, set 12-month OKRs per initiative.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7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7"/>
          <p:cNvSpPr/>
          <p:nvPr/>
        </p:nvSpPr>
        <p:spPr>
          <a:xfrm>
            <a:off x="0" y="4832604"/>
            <a:ext cx="9144000" cy="22860"/>
          </a:xfrm>
          <a:prstGeom prst="rect">
            <a:avLst/>
          </a:prstGeom>
          <a:solidFill>
            <a:srgbClr val="C9982A"/>
          </a:solidFill>
          <a:ln cap="flat" cmpd="sng" w="12700">
            <a:solidFill>
              <a:srgbClr val="C998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7">
            <a:hlinkClick r:id="rId6"/>
          </p:cNvPr>
          <p:cNvSpPr/>
          <p:nvPr/>
        </p:nvSpPr>
        <p:spPr>
          <a:xfrm>
            <a:off x="0" y="4869180"/>
            <a:ext cx="91440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Visit us at: </a:t>
            </a:r>
            <a:r>
              <a:rPr b="1" lang="en-US" sz="700" u="sng">
                <a:solidFill>
                  <a:srgbClr val="48CAE4"/>
                </a:solidFill>
                <a:latin typeface="Calibri"/>
                <a:ea typeface="Calibri"/>
                <a:cs typeface="Calibri"/>
                <a:sym typeface="Calibri"/>
              </a:rPr>
              <a:t>https://accredian.com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3E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8"/>
          <p:cNvSpPr/>
          <p:nvPr/>
        </p:nvSpPr>
        <p:spPr>
          <a:xfrm>
            <a:off x="5029200" y="-1371600"/>
            <a:ext cx="6400800" cy="6400800"/>
          </a:xfrm>
          <a:prstGeom prst="ellipse">
            <a:avLst/>
          </a:prstGeom>
          <a:solidFill>
            <a:srgbClr val="1E3160">
              <a:alpha val="45098"/>
            </a:srgbClr>
          </a:solidFill>
          <a:ln cap="flat" cmpd="sng" w="12700">
            <a:solidFill>
              <a:srgbClr val="1E31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8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1E3160">
              <a:alpha val="30196"/>
            </a:srgbClr>
          </a:solidFill>
          <a:ln cap="flat" cmpd="sng" w="12700">
            <a:solidFill>
              <a:srgbClr val="1E31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8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9982A"/>
          </a:solidFill>
          <a:ln cap="flat" cmpd="sng" w="12700">
            <a:solidFill>
              <a:srgbClr val="C998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8"/>
          <p:cNvSpPr/>
          <p:nvPr/>
        </p:nvSpPr>
        <p:spPr>
          <a:xfrm>
            <a:off x="256032" y="960120"/>
            <a:ext cx="566928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Georgia"/>
              <a:buNone/>
            </a:pPr>
            <a:r>
              <a:rPr b="1" lang="en-US" sz="4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AI Strategy is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Georgia"/>
              <a:buNone/>
            </a:pPr>
            <a:r>
              <a:rPr b="1" lang="en-US" sz="4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Not a Vendor Decision.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8"/>
          <p:cNvSpPr/>
          <p:nvPr/>
        </p:nvSpPr>
        <p:spPr>
          <a:xfrm>
            <a:off x="256032" y="2761488"/>
            <a:ext cx="3200400" cy="43891"/>
          </a:xfrm>
          <a:prstGeom prst="rect">
            <a:avLst/>
          </a:prstGeom>
          <a:solidFill>
            <a:srgbClr val="C9982A"/>
          </a:solidFill>
          <a:ln cap="flat" cmpd="sng" w="12700">
            <a:solidFill>
              <a:srgbClr val="C998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8"/>
          <p:cNvSpPr/>
          <p:nvPr/>
        </p:nvSpPr>
        <p:spPr>
          <a:xfrm>
            <a:off x="256032" y="2889504"/>
            <a:ext cx="5486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3F7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D4E3F7"/>
                </a:solidFill>
                <a:latin typeface="Calibri"/>
                <a:ea typeface="Calibri"/>
                <a:cs typeface="Calibri"/>
                <a:sym typeface="Calibri"/>
              </a:rPr>
              <a:t>It's a capability decision — one that shapes your organisation's competitive position for the next decade. The leaders who get this right will define the AI era in their industries.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8"/>
          <p:cNvSpPr/>
          <p:nvPr/>
        </p:nvSpPr>
        <p:spPr>
          <a:xfrm>
            <a:off x="256032" y="3840480"/>
            <a:ext cx="3474720" cy="822960"/>
          </a:xfrm>
          <a:prstGeom prst="rect">
            <a:avLst/>
          </a:prstGeom>
          <a:solidFill>
            <a:srgbClr val="C9982A"/>
          </a:solidFill>
          <a:ln cap="flat" cmpd="sng" w="12700">
            <a:solidFill>
              <a:srgbClr val="C9982A"/>
            </a:solidFill>
            <a:prstDash val="solid"/>
            <a:round/>
            <a:headEnd len="sm" w="sm" type="none"/>
            <a:tailEnd len="sm" w="sm" type="none"/>
          </a:ln>
          <a:effectLst>
            <a:outerShdw blurRad="177800" rotWithShape="0" algn="bl" dir="8100000" dist="508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8"/>
          <p:cNvSpPr/>
          <p:nvPr/>
        </p:nvSpPr>
        <p:spPr>
          <a:xfrm>
            <a:off x="6035040" y="822960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982A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C9982A"/>
                </a:solidFill>
                <a:latin typeface="Calibri"/>
                <a:ea typeface="Calibri"/>
                <a:cs typeface="Calibri"/>
                <a:sym typeface="Calibri"/>
              </a:rPr>
              <a:t>Key Takeaways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8"/>
          <p:cNvSpPr/>
          <p:nvPr/>
        </p:nvSpPr>
        <p:spPr>
          <a:xfrm>
            <a:off x="5989320" y="1261872"/>
            <a:ext cx="2926080" cy="694944"/>
          </a:xfrm>
          <a:prstGeom prst="rect">
            <a:avLst/>
          </a:prstGeom>
          <a:solidFill>
            <a:srgbClr val="1E3160"/>
          </a:solidFill>
          <a:ln cap="flat" cmpd="sng" w="12700">
            <a:solidFill>
              <a:srgbClr val="C9982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2" name="Google Shape;30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08192" y="141732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8"/>
          <p:cNvSpPr/>
          <p:nvPr/>
        </p:nvSpPr>
        <p:spPr>
          <a:xfrm>
            <a:off x="6528816" y="1371600"/>
            <a:ext cx="23042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single path fits all — use a portfolio approach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8"/>
          <p:cNvSpPr/>
          <p:nvPr/>
        </p:nvSpPr>
        <p:spPr>
          <a:xfrm>
            <a:off x="5989320" y="2084832"/>
            <a:ext cx="2926080" cy="694944"/>
          </a:xfrm>
          <a:prstGeom prst="rect">
            <a:avLst/>
          </a:prstGeom>
          <a:solidFill>
            <a:srgbClr val="1E3160"/>
          </a:solidFill>
          <a:ln cap="flat" cmpd="sng" w="12700">
            <a:solidFill>
              <a:srgbClr val="C9982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5" name="Google Shape;30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08192" y="224028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8"/>
          <p:cNvSpPr/>
          <p:nvPr/>
        </p:nvSpPr>
        <p:spPr>
          <a:xfrm>
            <a:off x="6528816" y="2194560"/>
            <a:ext cx="23042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sovereignty must anchor every decision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8"/>
          <p:cNvSpPr/>
          <p:nvPr/>
        </p:nvSpPr>
        <p:spPr>
          <a:xfrm>
            <a:off x="5989320" y="2907792"/>
            <a:ext cx="2926080" cy="694944"/>
          </a:xfrm>
          <a:prstGeom prst="rect">
            <a:avLst/>
          </a:prstGeom>
          <a:solidFill>
            <a:srgbClr val="1E3160"/>
          </a:solidFill>
          <a:ln cap="flat" cmpd="sng" w="12700">
            <a:solidFill>
              <a:srgbClr val="C9982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8" name="Google Shape;308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08192" y="306324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8"/>
          <p:cNvSpPr/>
          <p:nvPr/>
        </p:nvSpPr>
        <p:spPr>
          <a:xfrm>
            <a:off x="6528816" y="3017520"/>
            <a:ext cx="23042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Decide in 90 days or your competitors will decide for you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8"/>
          <p:cNvSpPr/>
          <p:nvPr/>
        </p:nvSpPr>
        <p:spPr>
          <a:xfrm>
            <a:off x="5989320" y="3730752"/>
            <a:ext cx="2926080" cy="694944"/>
          </a:xfrm>
          <a:prstGeom prst="rect">
            <a:avLst/>
          </a:prstGeom>
          <a:solidFill>
            <a:srgbClr val="1E3160"/>
          </a:solidFill>
          <a:ln cap="flat" cmpd="sng" w="12700">
            <a:solidFill>
              <a:srgbClr val="C9982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1" name="Google Shape;311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08192" y="388620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8"/>
          <p:cNvSpPr/>
          <p:nvPr/>
        </p:nvSpPr>
        <p:spPr>
          <a:xfrm>
            <a:off x="6528816" y="3840480"/>
            <a:ext cx="23042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window for first-mover advantage is closing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8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000000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8"/>
          <p:cNvSpPr/>
          <p:nvPr/>
        </p:nvSpPr>
        <p:spPr>
          <a:xfrm>
            <a:off x="0" y="4832604"/>
            <a:ext cx="9144000" cy="22860"/>
          </a:xfrm>
          <a:prstGeom prst="rect">
            <a:avLst/>
          </a:prstGeom>
          <a:solidFill>
            <a:srgbClr val="C9982A"/>
          </a:solidFill>
          <a:ln cap="flat" cmpd="sng" w="12700">
            <a:solidFill>
              <a:srgbClr val="C998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8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A8C4D8"/>
                </a:solidFill>
                <a:latin typeface="Calibri"/>
                <a:ea typeface="Calibri"/>
                <a:cs typeface="Calibri"/>
                <a:sym typeface="Calibri"/>
              </a:rPr>
              <a:t>Visit us at: </a:t>
            </a:r>
            <a:r>
              <a:rPr b="1" lang="en-US" sz="700" u="sng">
                <a:solidFill>
                  <a:srgbClr val="48CAE4"/>
                </a:solidFill>
                <a:latin typeface="Calibri"/>
                <a:ea typeface="Calibri"/>
                <a:cs typeface="Calibri"/>
                <a:sym typeface="Calibri"/>
              </a:rPr>
              <a:t>https://accredian.com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